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1"/>
  </p:notesMasterIdLst>
  <p:sldIdLst>
    <p:sldId id="256" r:id="rId2"/>
    <p:sldId id="5234" r:id="rId3"/>
    <p:sldId id="295" r:id="rId4"/>
    <p:sldId id="5209" r:id="rId5"/>
    <p:sldId id="5212" r:id="rId6"/>
    <p:sldId id="5213" r:id="rId7"/>
    <p:sldId id="5215" r:id="rId8"/>
    <p:sldId id="5217" r:id="rId9"/>
    <p:sldId id="5229" r:id="rId10"/>
    <p:sldId id="5242" r:id="rId11"/>
    <p:sldId id="5211" r:id="rId12"/>
    <p:sldId id="5220" r:id="rId13"/>
    <p:sldId id="5227" r:id="rId14"/>
    <p:sldId id="5226" r:id="rId15"/>
    <p:sldId id="5230" r:id="rId16"/>
    <p:sldId id="5231" r:id="rId17"/>
    <p:sldId id="5232" r:id="rId18"/>
    <p:sldId id="5233" r:id="rId19"/>
    <p:sldId id="5236" r:id="rId20"/>
    <p:sldId id="5240" r:id="rId21"/>
    <p:sldId id="5241" r:id="rId22"/>
    <p:sldId id="5237" r:id="rId23"/>
    <p:sldId id="5238" r:id="rId24"/>
    <p:sldId id="5239" r:id="rId25"/>
    <p:sldId id="5244" r:id="rId26"/>
    <p:sldId id="5253" r:id="rId27"/>
    <p:sldId id="5245" r:id="rId28"/>
    <p:sldId id="5246" r:id="rId29"/>
    <p:sldId id="5251" r:id="rId3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89CA"/>
    <a:srgbClr val="60BF97"/>
    <a:srgbClr val="135C6E"/>
    <a:srgbClr val="1EAECF"/>
    <a:srgbClr val="2BA630"/>
    <a:srgbClr val="33B4BD"/>
    <a:srgbClr val="23B0CA"/>
    <a:srgbClr val="DFDF2E"/>
    <a:srgbClr val="96CD6A"/>
    <a:srgbClr val="CAD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 autoAdjust="0"/>
    <p:restoredTop sz="86395" autoAdjust="0"/>
  </p:normalViewPr>
  <p:slideViewPr>
    <p:cSldViewPr snapToGrid="0" snapToObjects="1">
      <p:cViewPr varScale="1">
        <p:scale>
          <a:sx n="110" d="100"/>
          <a:sy n="110" d="100"/>
        </p:scale>
        <p:origin x="1360" y="80"/>
      </p:cViewPr>
      <p:guideLst/>
    </p:cSldViewPr>
  </p:slideViewPr>
  <p:outlineViewPr>
    <p:cViewPr>
      <p:scale>
        <a:sx n="60" d="100"/>
        <a:sy n="60" d="100"/>
      </p:scale>
      <p:origin x="0" y="-3048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89" d="100"/>
          <a:sy n="89" d="100"/>
        </p:scale>
        <p:origin x="3788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FA132F-730A-7F4B-A8EA-A6DF73F21D06}" type="datetimeFigureOut">
              <a:rPr lang="de-DE" smtClean="0"/>
              <a:t>26.08.24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EC1A1B-6C60-A344-A573-F42A8914F71E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502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4541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8363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7839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259393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1286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7006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99689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67895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0412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8526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574782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27136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0654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20254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68847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71690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67181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EC1A1B-6C60-A344-A573-F42A8914F71E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543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3727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25062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984617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6305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1887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126118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6875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7824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598063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3103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FC240-040A-8B41-8531-5066CA0F40C9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05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http://3D8AC660BCB05384D678D60BEF9C08E9.dms.sberbank.ru/3D8AC660BCB05384D678D60BEF9C08E9-AECF245F8C9B914F0C2989A94469BBEA-568CE4AC14AF8F02F3B099876E071B35/1.png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http://3D8AC660BCB05384D678D60BEF9C08E9.dms.sberbank.ru/3D8AC660BCB05384D678D60BEF9C08E9-AECF245F8C9B914F0C2989A94469BBEA-568CE4AC14AF8F02F3B099876E071B35/1.png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 с картинкой под градиент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9"/>
          <p:cNvSpPr>
            <a:spLocks noGrp="1"/>
          </p:cNvSpPr>
          <p:nvPr>
            <p:ph type="title" hasCustomPrompt="1"/>
          </p:nvPr>
        </p:nvSpPr>
        <p:spPr>
          <a:xfrm>
            <a:off x="587377" y="2097088"/>
            <a:ext cx="10188575" cy="1749048"/>
          </a:xfrm>
        </p:spPr>
        <p:txBody>
          <a:bodyPr anchor="t" anchorCtr="0">
            <a:noAutofit/>
          </a:bodyPr>
          <a:lstStyle>
            <a:lvl1pPr>
              <a:lnSpc>
                <a:spcPct val="90000"/>
              </a:lnSpc>
              <a:defRPr sz="6000" b="0" i="0" cap="none" baseline="0">
                <a:solidFill>
                  <a:schemeClr val="bg1"/>
                </a:solidFill>
                <a:latin typeface="Calibri Light" panose="020F0302020204030204" pitchFamily="34" charset="0"/>
                <a:ea typeface="Calibri Light" charset="0"/>
                <a:cs typeface="Calibri Light" charset="0"/>
              </a:defRPr>
            </a:lvl1pPr>
          </a:lstStyle>
          <a:p>
            <a:r>
              <a:rPr lang="ru-RU" dirty="0"/>
              <a:t>Название презентации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587376" y="4344990"/>
            <a:ext cx="7561261" cy="906463"/>
          </a:xfrm>
          <a:prstGeom prst="rect">
            <a:avLst/>
          </a:prstGeom>
        </p:spPr>
        <p:txBody>
          <a:bodyPr/>
          <a:lstStyle>
            <a:lvl1pPr>
              <a:defRPr lang="en-US" sz="3000" b="0" i="0" kern="1200" cap="none" baseline="0">
                <a:solidFill>
                  <a:schemeClr val="bg1"/>
                </a:solidFill>
                <a:latin typeface="Calibri Light" panose="020F0302020204030204" pitchFamily="34" charset="0"/>
                <a:ea typeface="Calibri" charset="0"/>
                <a:cs typeface="Calibri" charset="0"/>
              </a:defRPr>
            </a:lvl1pPr>
            <a:lvl2pPr marL="0" marR="0" indent="0" algn="l" defTabSz="914354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2pPr>
          </a:lstStyle>
          <a:p>
            <a:pPr lvl="0"/>
            <a:r>
              <a:rPr lang="ru-RU" dirty="0"/>
              <a:t>Дополнительный текст, пояснение, подзаголовок</a:t>
            </a:r>
          </a:p>
        </p:txBody>
      </p:sp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39" y="4692397"/>
            <a:ext cx="12192000" cy="2131352"/>
          </a:xfrm>
          <a:prstGeom prst="rect">
            <a:avLst/>
          </a:prstGeom>
        </p:spPr>
      </p:pic>
      <p:sp>
        <p:nvSpPr>
          <p:cNvPr id="6" name="Прямоугольник 5"/>
          <p:cNvSpPr/>
          <p:nvPr userDrawn="1"/>
        </p:nvSpPr>
        <p:spPr>
          <a:xfrm>
            <a:off x="2" y="4397828"/>
            <a:ext cx="12194239" cy="1415117"/>
          </a:xfrm>
          <a:prstGeom prst="rect">
            <a:avLst/>
          </a:prstGeom>
          <a:gradFill>
            <a:gsLst>
              <a:gs pos="5000">
                <a:schemeClr val="bg1"/>
              </a:gs>
              <a:gs pos="50000">
                <a:schemeClr val="bg1">
                  <a:alpha val="48000"/>
                </a:schemeClr>
              </a:gs>
              <a:gs pos="100000">
                <a:schemeClr val="bg1">
                  <a:alpha val="34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6933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FDA317C-6C77-412C-9D54-BF2E93C8DD48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ru-RU" dirty="0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4264459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obj" userDrawn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bg object 16"/>
          <p:cNvSpPr/>
          <p:nvPr/>
        </p:nvSpPr>
        <p:spPr bwMode="auto">
          <a:xfrm>
            <a:off x="0" y="0"/>
            <a:ext cx="12188952" cy="6858000"/>
          </a:xfrm>
          <a:prstGeom prst="rect">
            <a:avLst/>
          </a:prstGeom>
          <a:blipFill>
            <a:blip r:embed="rId2"/>
            <a:srcRect b="217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" name="Holder 2"/>
          <p:cNvSpPr>
            <a:spLocks noGrp="1"/>
          </p:cNvSpPr>
          <p:nvPr>
            <p:ph type="title"/>
          </p:nvPr>
        </p:nvSpPr>
        <p:spPr bwMode="auto">
          <a:xfrm>
            <a:off x="685800" y="2667000"/>
            <a:ext cx="7493328" cy="1933575"/>
          </a:xfrm>
          <a:prstGeom prst="rect">
            <a:avLst/>
          </a:prstGeom>
        </p:spPr>
        <p:txBody>
          <a:bodyPr lIns="0" tIns="0" rIns="0" bIns="0"/>
          <a:lstStyle>
            <a:lvl1pPr>
              <a:defRPr sz="660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8/26/24</a:t>
            </a:fld>
            <a:endParaRPr lang="en-US"/>
          </a:p>
        </p:txBody>
      </p:sp>
      <p:pic>
        <p:nvPicPr>
          <p:cNvPr id="16" name="Рисунок 15" descr="http://3D8AC660BCB05384D678D60BEF9C08E9.dms.sberbank.ru/3D8AC660BCB05384D678D60BEF9C08E9-AECF245F8C9B914F0C2989A94469BBEA-568CE4AC14AF8F02F3B099876E071B35/1.png"/>
          <p:cNvPicPr>
            <a:picLocks/>
          </p:cNvPicPr>
          <p:nvPr userDrawn="1"/>
        </p:nvPicPr>
        <p:blipFill>
          <a:blip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8092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13_Пустой слайд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 rot="5400000">
            <a:off x="5644443" y="310447"/>
            <a:ext cx="6858001" cy="6237110"/>
          </a:xfrm>
          <a:prstGeom prst="rect">
            <a:avLst/>
          </a:prstGeom>
        </p:spPr>
      </p:pic>
      <p:sp>
        <p:nvSpPr>
          <p:cNvPr id="5" name="Номер слайда 5"/>
          <p:cNvSpPr>
            <a:spLocks noAdjustHandles="1"/>
          </p:cNvSpPr>
          <p:nvPr userDrawn="1"/>
        </p:nvSpPr>
        <p:spPr bwMode="auto">
          <a:xfrm>
            <a:off x="921036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>
              <a:defRPr sz="1200" b="0" i="0">
                <a:solidFill>
                  <a:schemeClr val="tx1">
                    <a:tint val="75000"/>
                  </a:schemeClr>
                </a:solidFill>
                <a:latin typeface="SB Sans Display Regular"/>
                <a:ea typeface="+mn-ea"/>
                <a:cs typeface="+mn-cs"/>
              </a:defRPr>
            </a:lvl1pPr>
            <a:lvl2pPr marL="457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5FE8ADF-25A3-4B39-A1EB-43B990C73963}" type="slidenum">
              <a:rPr lang="ru-RU" b="0" i="0">
                <a:solidFill>
                  <a:schemeClr val="bg1"/>
                </a:solidFill>
                <a:latin typeface="SB Sans Display Light"/>
                <a:cs typeface="SB Sans Display Light"/>
              </a:rPr>
              <a:t>‹#›</a:t>
            </a:fld>
            <a:endParaRPr lang="ru-RU" b="0" i="0">
              <a:solidFill>
                <a:schemeClr val="bg1"/>
              </a:solidFill>
              <a:latin typeface="SB Sans Display Light"/>
              <a:cs typeface="SB Sans Display Light"/>
            </a:endParaRP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 bwMode="auto">
          <a:xfrm>
            <a:off x="625703" y="365291"/>
            <a:ext cx="10728324" cy="1325563"/>
          </a:xfrm>
          <a:prstGeom prst="rect">
            <a:avLst/>
          </a:prstGeom>
        </p:spPr>
        <p:txBody>
          <a:bodyPr/>
          <a:lstStyle>
            <a:lvl1pPr algn="l">
              <a:defRPr sz="4400" b="0" i="0">
                <a:solidFill>
                  <a:schemeClr val="tx1"/>
                </a:solidFill>
                <a:latin typeface="SB Sans Display Light"/>
                <a:cs typeface="SB Sans Display Light"/>
              </a:defRPr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ru-RU"/>
          </a:p>
        </p:txBody>
      </p:sp>
      <p:pic>
        <p:nvPicPr>
          <p:cNvPr id="35" name="Рисунок 34" descr="http://3D8AC660BCB05384D678D60BEF9C08E9.dms.sberbank.ru/3D8AC660BCB05384D678D60BEF9C08E9-AECF245F8C9B914F0C2989A94469BBEA-568CE4AC14AF8F02F3B099876E071B35/1.png"/>
          <p:cNvPicPr>
            <a:picLocks/>
          </p:cNvPicPr>
          <p:nvPr userDrawn="1"/>
        </p:nvPicPr>
        <p:blipFill>
          <a:blip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36" name="Рисунок 35" descr="http://3D8AC660BCB05384D678D60BEF9C08E9.dms.sberbank.ru/3D8AC660BCB05384D678D60BEF9C08E9-AECF245F8C9B914F0C2989A94469BBEA-568CE4AC14AF8F02F3B099876E071B35/1.png"/>
          <p:cNvPicPr>
            <a:picLocks/>
          </p:cNvPicPr>
          <p:nvPr userDrawn="1"/>
        </p:nvPicPr>
        <p:blipFill>
          <a:blip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  <p:pic>
        <p:nvPicPr>
          <p:cNvPr id="37" name="Рисунок 36" descr="http://3D8AC660BCB05384D678D60BEF9C08E9.dms.sberbank.ru/3D8AC660BCB05384D678D60BEF9C08E9-AECF245F8C9B914F0C2989A94469BBEA-568CE4AC14AF8F02F3B099876E071B35/1.png"/>
          <p:cNvPicPr>
            <a:picLocks/>
          </p:cNvPicPr>
          <p:nvPr userDrawn="1"/>
        </p:nvPicPr>
        <p:blipFill>
          <a:blip r:link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588" cy="1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3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" userDrawn="1">
  <p:cSld name="Заголовок и объект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Образец заголовка</a:t>
            </a:r>
          </a:p>
        </p:txBody>
      </p:sp>
      <p:sp>
        <p:nvSpPr>
          <p:cNvPr id="5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  <a:p>
            <a:pPr lvl="3">
              <a:defRPr/>
            </a:pPr>
            <a:r>
              <a:rPr lang="ru-RU"/>
              <a:t>Четвертый уровень</a:t>
            </a:r>
            <a:endParaRPr/>
          </a:p>
          <a:p>
            <a:pPr lvl="4">
              <a:defRPr/>
            </a:pPr>
            <a:r>
              <a:rPr lang="ru-RU"/>
              <a:t>Пятый уровень</a:t>
            </a:r>
          </a:p>
        </p:txBody>
      </p:sp>
      <p:sp>
        <p:nvSpPr>
          <p:cNvPr id="6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9A2CB3F-9E6C-4531-82DF-EF260906E9D5}" type="datetimeFigureOut">
              <a:rPr lang="ru-RU"/>
              <a:t>26.08.2024</a:t>
            </a:fld>
            <a:endParaRPr lang="ru-RU"/>
          </a:p>
        </p:txBody>
      </p:sp>
      <p:sp>
        <p:nvSpPr>
          <p:cNvPr id="7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13E68939-3EB5-44F6-8D41-33285E24A685}" type="slidenum">
              <a:rPr lang="ru-RU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788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313055" y="288711"/>
            <a:ext cx="10909300" cy="399213"/>
          </a:xfrm>
          <a:prstGeom prst="rect">
            <a:avLst/>
          </a:prstGeom>
        </p:spPr>
        <p:txBody>
          <a:bodyPr vert="horz" lIns="0" tIns="46800" rIns="90000" bIns="46800" rtlCol="0" anchor="ctr">
            <a:sp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1DD0C2-955D-4A74-A02D-206C443760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4445" y="6492875"/>
            <a:ext cx="504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ru-RU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EEAA0219-6F8F-4841-A8C1-35062D7CC4AA}" type="slidenum">
              <a:rPr lang="ru-RU" smtClean="0"/>
              <a:pPr algn="r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5175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6" r:id="rId2"/>
    <p:sldLayoutId id="2147483667" r:id="rId3"/>
    <p:sldLayoutId id="2147483669" r:id="rId4"/>
    <p:sldLayoutId id="2147483670" r:id="rId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lang="en-US" sz="2200" b="0" i="0" kern="1200" cap="none" baseline="0" dirty="0" smtClean="0">
          <a:solidFill>
            <a:schemeClr val="tx1"/>
          </a:solidFill>
          <a:latin typeface="Calibri Light"/>
          <a:ea typeface="Calibri Light" charset="0"/>
          <a:cs typeface="Calibri Light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4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b="0" i="0" kern="1200">
          <a:solidFill>
            <a:schemeClr val="tx1"/>
          </a:solidFill>
          <a:latin typeface="+mn-lt"/>
          <a:ea typeface="Calibri Light" charset="0"/>
          <a:cs typeface="Calibri Light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>
          <p15:clr>
            <a:srgbClr val="F26B43"/>
          </p15:clr>
        </p15:guide>
        <p15:guide id="2" pos="7242">
          <p15:clr>
            <a:srgbClr val="F26B43"/>
          </p15:clr>
        </p15:guide>
        <p15:guide id="3" orient="horz" pos="436">
          <p15:clr>
            <a:srgbClr val="F26B43"/>
          </p15:clr>
        </p15:guide>
        <p15:guide id="4" orient="horz" pos="3884">
          <p15:clr>
            <a:srgbClr val="F26B43"/>
          </p15:clr>
        </p15:guide>
        <p15:guide id="17" orient="horz" pos="799">
          <p15:clr>
            <a:srgbClr val="F26B43"/>
          </p15:clr>
        </p15:guide>
        <p15:guide id="18" pos="37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code.visualstudio.com/download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jetbrains.com/pychar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anaconda.com/products/individual" TargetMode="External"/><Relationship Id="rId5" Type="http://schemas.openxmlformats.org/officeDocument/2006/relationships/hyperlink" Target="https://colab.google.com/products/individual" TargetMode="External"/><Relationship Id="rId4" Type="http://schemas.openxmlformats.org/officeDocument/2006/relationships/hyperlink" Target="https://git-scm.com/downloads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ru.wikipedia.org/wiki/%D0%92%D0%B5%D0%BB%D0%B8%D0%BA%D0%BE%D0%B4%D1%83%D1%88%D0%BD%D1%8B%D0%B9_%D0%BF%D0%BE%D0%B6%D0%B8%D0%B7%D0%BD%D0%B5%D0%BD%D0%BD%D1%8B%D0%B9_%D0%B4%D0%B8%D0%BA%D1%82%D0%B0%D1%82%D0%BE%D1%80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" name="Заголовок 4"/>
          <p:cNvSpPr>
            <a:spLocks/>
          </p:cNvSpPr>
          <p:nvPr/>
        </p:nvSpPr>
        <p:spPr bwMode="auto">
          <a:xfrm>
            <a:off x="685800" y="2667000"/>
            <a:ext cx="8305800" cy="2490192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lvl="0">
              <a:defRPr/>
            </a:pPr>
            <a:r>
              <a:rPr lang="ru-RU" sz="5400" b="1" dirty="0">
                <a:solidFill>
                  <a:srgbClr val="333F48"/>
                </a:solidFill>
                <a:latin typeface="SB Sans Display Semibold"/>
              </a:rPr>
              <a:t>Модуль </a:t>
            </a:r>
            <a:r>
              <a:rPr lang="en-US" sz="5400" b="1" dirty="0">
                <a:solidFill>
                  <a:srgbClr val="333F48"/>
                </a:solidFill>
                <a:latin typeface="SB Sans Display Semibold"/>
              </a:rPr>
              <a:t>Python</a:t>
            </a:r>
            <a:endParaRPr lang="ru-RU" sz="5400" b="1" dirty="0">
              <a:solidFill>
                <a:srgbClr val="333F48"/>
              </a:solidFill>
              <a:latin typeface="SB Sans Display Semibold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sz="2400" dirty="0">
                <a:solidFill>
                  <a:srgbClr val="333F48"/>
                </a:solidFill>
                <a:latin typeface="SB Sans Display Semibold"/>
              </a:rPr>
              <a:t>Преподаватель: Алексей Левченко</a:t>
            </a:r>
            <a:endParaRPr lang="en-US" sz="5400" dirty="0">
              <a:solidFill>
                <a:srgbClr val="333F48"/>
              </a:solidFill>
              <a:latin typeface="SB Sans Display Semibold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100721" y="4240045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" name="Заголовок 4">
            <a:extLst>
              <a:ext uri="{FF2B5EF4-FFF2-40B4-BE49-F238E27FC236}">
                <a16:creationId xmlns:a16="http://schemas.microsoft.com/office/drawing/2014/main" id="{B58D2220-960C-7948-90F6-653C843D2335}"/>
              </a:ext>
            </a:extLst>
          </p:cNvPr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План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49DDA4D-9747-024C-AE6A-4965A695612B}"/>
              </a:ext>
            </a:extLst>
          </p:cNvPr>
          <p:cNvSpPr/>
          <p:nvPr/>
        </p:nvSpPr>
        <p:spPr bwMode="auto">
          <a:xfrm>
            <a:off x="81116" y="1452490"/>
            <a:ext cx="5474824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Терминал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IDE PyCharm &amp; </a:t>
            </a:r>
            <a:r>
              <a:rPr lang="en-US" sz="3200" dirty="0" err="1"/>
              <a:t>Jupyter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Типы и структуры данных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Функции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407356-04BB-B44A-A6DD-73524D22A45B}"/>
              </a:ext>
            </a:extLst>
          </p:cNvPr>
          <p:cNvSpPr/>
          <p:nvPr/>
        </p:nvSpPr>
        <p:spPr bwMode="auto">
          <a:xfrm>
            <a:off x="5451768" y="1452490"/>
            <a:ext cx="4845814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Ветвления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Циклы </a:t>
            </a:r>
            <a:r>
              <a:rPr lang="en-US" sz="3200" dirty="0"/>
              <a:t>For </a:t>
            </a:r>
            <a:r>
              <a:rPr lang="ru-RU" sz="3200" dirty="0"/>
              <a:t>и </a:t>
            </a:r>
            <a:r>
              <a:rPr lang="en-US" sz="3200" dirty="0"/>
              <a:t>While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Чтение и запись файлов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Обработка ошибок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Установка библиотек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665260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B075998A-3FCC-EA4B-960F-7DB6E5A5A4D8}"/>
              </a:ext>
            </a:extLst>
          </p:cNvPr>
          <p:cNvSpPr>
            <a:spLocks/>
          </p:cNvSpPr>
          <p:nvPr/>
        </p:nvSpPr>
        <p:spPr bwMode="auto">
          <a:xfrm>
            <a:off x="551384" y="404664"/>
            <a:ext cx="10225136" cy="1008112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30000"/>
              </a:lnSpc>
              <a:buNone/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Что необходимо для работы: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0BEADFE-FEEC-F945-BB08-0C4555C3664C}"/>
              </a:ext>
            </a:extLst>
          </p:cNvPr>
          <p:cNvSpPr>
            <a:spLocks/>
          </p:cNvSpPr>
          <p:nvPr/>
        </p:nvSpPr>
        <p:spPr bwMode="auto">
          <a:xfrm>
            <a:off x="218767" y="1472366"/>
            <a:ext cx="11681496" cy="4902305"/>
          </a:xfrm>
          <a:prstGeom prst="rect">
            <a:avLst/>
          </a:prstGeom>
        </p:spPr>
        <p:txBody>
          <a:bodyPr lIns="0" tIns="0" rIns="0" bIns="0"/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>
                <a:solidFill>
                  <a:schemeClr val="tx1"/>
                </a:solidFill>
                <a:latin typeface="SB Sans Display Regular"/>
                <a:ea typeface="+mn-ea"/>
                <a:cs typeface="+mn-cs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Git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  <a:hlinkClick r:id="rId4"/>
              </a:rPr>
              <a:t>https://git-scm.com/downloads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r>
              <a:rPr lang="en-US" sz="2400" dirty="0" err="1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Colab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  <a:hlinkClick r:id="rId5"/>
              </a:rPr>
              <a:t>https://colab.google.com</a:t>
            </a:r>
            <a:endParaRPr lang="ru-RU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Anaconda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  <a:hlinkClick r:id="rId6"/>
              </a:rPr>
              <a:t>https://www.anaconda.com/products/individual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PyCharm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  <a:hlinkClick r:id="rId7"/>
              </a:rPr>
              <a:t>https://www.jetbrains.com/pycharm</a:t>
            </a:r>
            <a:r>
              <a:rPr lang="ru-RU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  <a:defRPr/>
            </a:pP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</a:rPr>
              <a:t> Visual Studio Code </a:t>
            </a:r>
            <a:r>
              <a:rPr lang="en-US" sz="2400" dirty="0">
                <a:solidFill>
                  <a:srgbClr val="333F48"/>
                </a:solidFill>
                <a:latin typeface="SB Serif Text Semibold" panose="02000503000000020004" pitchFamily="50" charset="-52"/>
                <a:cs typeface="SB Serif Text Semibold" panose="02000503000000020004" pitchFamily="50" charset="-52"/>
                <a:hlinkClick r:id="rId8"/>
              </a:rPr>
              <a:t>https://code.visualstudio.com/download</a:t>
            </a:r>
            <a:endParaRPr lang="en-US" sz="2400" dirty="0">
              <a:solidFill>
                <a:srgbClr val="333F48"/>
              </a:solidFill>
              <a:latin typeface="SB Serif Text Semibold" panose="02000503000000020004" pitchFamily="50" charset="-52"/>
              <a:cs typeface="SB Serif Text Semibold" panose="02000503000000020004" pitchFamily="50" charset="-52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03731F7-A027-DC49-B731-2DE0F0D38D50}"/>
              </a:ext>
            </a:extLst>
          </p:cNvPr>
          <p:cNvSpPr/>
          <p:nvPr/>
        </p:nvSpPr>
        <p:spPr bwMode="auto">
          <a:xfrm>
            <a:off x="138757" y="4612522"/>
            <a:ext cx="370614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sz="3200" dirty="0">
              <a:solidFill>
                <a:srgbClr val="333F48"/>
              </a:solidFill>
            </a:endParaRPr>
          </a:p>
          <a:p>
            <a:r>
              <a:rPr lang="en-US" sz="3200" dirty="0">
                <a:solidFill>
                  <a:srgbClr val="333F48"/>
                </a:solidFill>
              </a:rPr>
              <a:t>  </a:t>
            </a:r>
          </a:p>
          <a:p>
            <a:endParaRPr lang="en-US" sz="3200" dirty="0">
              <a:solidFill>
                <a:srgbClr val="333F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601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Терминал - базовые команды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6E7B3C56-0DC6-9F49-A80C-404C7AFDF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7350463"/>
              </p:ext>
            </p:extLst>
          </p:nvPr>
        </p:nvGraphicFramePr>
        <p:xfrm>
          <a:off x="1491940" y="1405890"/>
          <a:ext cx="81280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9887579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41709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ru-RU" dirty="0"/>
                        <a:t>Функционал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Команда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64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Копирование файлов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dirty="0"/>
                        <a:t>с</a:t>
                      </a:r>
                      <a:r>
                        <a:rPr lang="en-US" sz="1800" dirty="0"/>
                        <a:t>p </a:t>
                      </a:r>
                      <a:r>
                        <a:rPr lang="en-US" sz="1800" dirty="0" err="1"/>
                        <a:t>filepathA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    </a:t>
                      </a:r>
                      <a:r>
                        <a:rPr lang="en-US" sz="1800" dirty="0" err="1"/>
                        <a:t>filepathB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7626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Перемещение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mv </a:t>
                      </a:r>
                      <a:r>
                        <a:rPr lang="en-US" sz="1800" dirty="0" err="1"/>
                        <a:t>filepathA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   </a:t>
                      </a:r>
                      <a:r>
                        <a:rPr lang="en-US" sz="1800" dirty="0" err="1"/>
                        <a:t>filepathB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35517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Создать директорию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mkdir</a:t>
                      </a:r>
                      <a:r>
                        <a:rPr lang="en-US" sz="1800" dirty="0"/>
                        <a:t> </a:t>
                      </a:r>
                      <a:r>
                        <a:rPr lang="en-US" sz="1800" dirty="0" err="1"/>
                        <a:t>filepath</a:t>
                      </a:r>
                      <a:r>
                        <a:rPr lang="en-US" sz="1800" dirty="0"/>
                        <a:t> 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6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Удалить файл</a:t>
                      </a:r>
                      <a:r>
                        <a:rPr lang="en-US" sz="1800" dirty="0"/>
                        <a:t>, </a:t>
                      </a:r>
                      <a:r>
                        <a:rPr lang="ru-RU" sz="1800" dirty="0"/>
                        <a:t>директорию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rm </a:t>
                      </a:r>
                      <a:r>
                        <a:rPr lang="en-US" sz="1800" dirty="0" err="1"/>
                        <a:t>filepath</a:t>
                      </a:r>
                      <a:r>
                        <a:rPr lang="en-US" sz="1800" dirty="0"/>
                        <a:t>, rm –r </a:t>
                      </a:r>
                      <a:r>
                        <a:rPr lang="en-US" sz="1800" dirty="0" err="1"/>
                        <a:t>dirpath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28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Что есть в папке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ls </a:t>
                      </a:r>
                      <a:r>
                        <a:rPr lang="ru-RU" sz="1800" dirty="0"/>
                        <a:t>и </a:t>
                      </a:r>
                      <a:r>
                        <a:rPr lang="en-US" sz="1800" dirty="0"/>
                        <a:t>ls -la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2798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Показать начало файла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head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7119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Показать конец файла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tail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3319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Показать файл</a:t>
                      </a:r>
                      <a:r>
                        <a:rPr lang="en-US" sz="1800" dirty="0"/>
                        <a:t> </a:t>
                      </a:r>
                      <a:r>
                        <a:rPr lang="ru-RU" sz="1800" dirty="0"/>
                        <a:t>целиком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5673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3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/>
                        <a:t>Справка </a:t>
                      </a:r>
                      <a:r>
                        <a:rPr lang="en-US" sz="1800" dirty="0"/>
                        <a:t>man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6252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7467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Терминал - базовые команды</a:t>
            </a:r>
          </a:p>
        </p:txBody>
      </p:sp>
      <p:graphicFrame>
        <p:nvGraphicFramePr>
          <p:cNvPr id="2" name="Таблица 2">
            <a:extLst>
              <a:ext uri="{FF2B5EF4-FFF2-40B4-BE49-F238E27FC236}">
                <a16:creationId xmlns:a16="http://schemas.microsoft.com/office/drawing/2014/main" id="{95D8D4BA-E30D-864B-A827-E4A67652E9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588506"/>
              </p:ext>
            </p:extLst>
          </p:nvPr>
        </p:nvGraphicFramePr>
        <p:xfrm>
          <a:off x="1452260" y="1291590"/>
          <a:ext cx="8128000" cy="40844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10323617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7254664"/>
                    </a:ext>
                  </a:extLst>
                </a:gridCol>
              </a:tblGrid>
              <a:tr h="376022">
                <a:tc>
                  <a:txBody>
                    <a:bodyPr/>
                    <a:lstStyle/>
                    <a:p>
                      <a:r>
                        <a:rPr lang="ru-RU" dirty="0"/>
                        <a:t>Функционал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Команда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6457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Перейти на уровень выше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 ..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6286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Перейти на уровень ниже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 </a:t>
                      </a:r>
                      <a:r>
                        <a:rPr lang="en-US" dirty="0" err="1"/>
                        <a:t>some_directory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8686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Перейти в домашнюю директорию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cd ~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3188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Создать файл</a:t>
                      </a:r>
                      <a:r>
                        <a:rPr lang="en-US" sz="1800" dirty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touch filename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6725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Создать файл в редакторе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vim filename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803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Посмотреть текущие процессы</a:t>
                      </a:r>
                      <a:r>
                        <a:rPr lang="en-US" sz="1800" dirty="0"/>
                        <a:t>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ps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6357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Посмотреть все процессы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ps</a:t>
                      </a:r>
                      <a:r>
                        <a:rPr lang="en-US" dirty="0"/>
                        <a:t> aux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7038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Найти  подстроку в тексте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grep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40117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Найти </a:t>
                      </a:r>
                      <a:r>
                        <a:rPr lang="ru-RU" sz="1800" dirty="0" err="1"/>
                        <a:t>питоновский</a:t>
                      </a:r>
                      <a:r>
                        <a:rPr lang="ru-RU" sz="1800" dirty="0"/>
                        <a:t> процесс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ps</a:t>
                      </a:r>
                      <a:r>
                        <a:rPr lang="en-US" sz="1800" dirty="0"/>
                        <a:t> aux | grep python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6892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dirty="0"/>
                        <a:t>Остановить процесс 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kill </a:t>
                      </a:r>
                      <a:r>
                        <a:rPr lang="en-US" sz="1800" dirty="0" err="1"/>
                        <a:t>pid</a:t>
                      </a:r>
                      <a:r>
                        <a:rPr lang="ru-RU" sz="1800" dirty="0"/>
                        <a:t> процесса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27613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1656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Терминал - базовые команды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52380" y="656692"/>
            <a:ext cx="12581681" cy="8956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Параметры передаются через дефис, например:</a:t>
            </a:r>
            <a:r>
              <a:rPr lang="en-US" sz="3200" dirty="0"/>
              <a:t> </a:t>
            </a:r>
            <a:r>
              <a:rPr lang="ru-RU" sz="3200" dirty="0"/>
              <a:t>-</a:t>
            </a:r>
            <a:r>
              <a:rPr lang="en-US" sz="3200" dirty="0"/>
              <a:t>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Проверка загрузки</a:t>
            </a:r>
            <a:r>
              <a:rPr lang="en-US" sz="3200" dirty="0"/>
              <a:t> </a:t>
            </a:r>
            <a:r>
              <a:rPr lang="ru-RU" sz="3200" dirty="0"/>
              <a:t>памяти и процессов </a:t>
            </a:r>
            <a:r>
              <a:rPr lang="en-US" sz="3200" dirty="0"/>
              <a:t>TOP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Отправка запросов </a:t>
            </a:r>
            <a:r>
              <a:rPr lang="en-US" sz="3200" dirty="0"/>
              <a:t>curl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Скачивание файлов </a:t>
            </a:r>
            <a:r>
              <a:rPr lang="en-US" sz="3200" dirty="0" err="1"/>
              <a:t>wget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Очистка терминала </a:t>
            </a:r>
            <a:r>
              <a:rPr lang="en-US" sz="3200" dirty="0"/>
              <a:t>clear</a:t>
            </a:r>
          </a:p>
          <a:p>
            <a:r>
              <a:rPr lang="ru-RU" sz="3200" dirty="0"/>
              <a:t>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2D797110-F631-7745-8F04-693436FB3C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0" y="2616200"/>
            <a:ext cx="4470400" cy="1625600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B1D5903-6E38-A046-81C8-F221CA5C5F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" y="4382218"/>
            <a:ext cx="11417300" cy="2267857"/>
          </a:xfrm>
          <a:prstGeom prst="rect">
            <a:avLst/>
          </a:prstGeom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2833098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5" y="404664"/>
            <a:ext cx="9391533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Терминал – последовательность команд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2581681" cy="84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Запуск нескольких команд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 ;      </a:t>
            </a:r>
            <a:r>
              <a:rPr lang="ru-RU" sz="3200" dirty="0"/>
              <a:t>последовательно </a:t>
            </a:r>
            <a:r>
              <a:rPr lang="en" sz="2800" i="1" dirty="0" err="1"/>
              <a:t>sudo</a:t>
            </a:r>
            <a:r>
              <a:rPr lang="en" sz="2800" i="1" dirty="0"/>
              <a:t> apt update ; </a:t>
            </a:r>
            <a:r>
              <a:rPr lang="en" sz="2800" i="1" dirty="0" err="1"/>
              <a:t>sudo</a:t>
            </a:r>
            <a:r>
              <a:rPr lang="en" sz="2800" i="1" dirty="0"/>
              <a:t> apt upgrade</a:t>
            </a:r>
            <a:endParaRPr lang="ru-RU" sz="3200" i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3200" dirty="0"/>
              <a:t>&amp;&amp;  </a:t>
            </a:r>
            <a:r>
              <a:rPr lang="ru-RU" sz="3200" dirty="0"/>
              <a:t>последовательно если первая выполнилась успешно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Pipe | </a:t>
            </a:r>
            <a:r>
              <a:rPr lang="ru-RU" sz="3200" dirty="0"/>
              <a:t>когда результаты выполнения команды передаются другой</a:t>
            </a:r>
          </a:p>
          <a:p>
            <a:r>
              <a:rPr lang="en-US" sz="3200" dirty="0"/>
              <a:t>	</a:t>
            </a:r>
            <a:r>
              <a:rPr lang="en" sz="2400" dirty="0"/>
              <a:t>ls -la| tee test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74BD5F6A-4B9B-C846-9B1A-DC07FE2B98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75" b="36446"/>
          <a:stretch/>
        </p:blipFill>
        <p:spPr>
          <a:xfrm>
            <a:off x="419100" y="5140764"/>
            <a:ext cx="11353800" cy="1378579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198223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Python</a:t>
            </a: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0" y="1027946"/>
            <a:ext cx="54748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CCFA21B-7B7E-6E49-B5CE-F9D2198A9516}"/>
              </a:ext>
            </a:extLst>
          </p:cNvPr>
          <p:cNvSpPr/>
          <p:nvPr/>
        </p:nvSpPr>
        <p:spPr>
          <a:xfrm>
            <a:off x="439955" y="1392384"/>
            <a:ext cx="39085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dirty="0" err="1"/>
              <a:t>https</a:t>
            </a:r>
            <a:r>
              <a:rPr lang="ru-RU" sz="2800" dirty="0"/>
              <a:t>://</a:t>
            </a:r>
            <a:r>
              <a:rPr lang="ru-RU" sz="2800" dirty="0" err="1"/>
              <a:t>www.</a:t>
            </a:r>
            <a:r>
              <a:rPr lang="ru-RU" sz="3200" dirty="0" err="1"/>
              <a:t>python</a:t>
            </a:r>
            <a:r>
              <a:rPr lang="ru-RU" sz="2800" dirty="0" err="1"/>
              <a:t>.org</a:t>
            </a:r>
            <a:endParaRPr lang="ru-RU" sz="2800" dirty="0"/>
          </a:p>
        </p:txBody>
      </p:sp>
      <p:pic>
        <p:nvPicPr>
          <p:cNvPr id="1026" name="Picture 2" descr="The Power of Python Explained by Creator Guido van Rossum">
            <a:extLst>
              <a:ext uri="{FF2B5EF4-FFF2-40B4-BE49-F238E27FC236}">
                <a16:creationId xmlns:a16="http://schemas.microsoft.com/office/drawing/2014/main" id="{4A954A5A-5783-FF45-BD7C-A1103F56ED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094" y="496942"/>
            <a:ext cx="3665072" cy="2932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646D848-3438-2E4B-BD59-2CBF41151C38}"/>
              </a:ext>
            </a:extLst>
          </p:cNvPr>
          <p:cNvSpPr/>
          <p:nvPr/>
        </p:nvSpPr>
        <p:spPr bwMode="auto">
          <a:xfrm>
            <a:off x="960816" y="1977159"/>
            <a:ext cx="478022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Документация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dirty="0"/>
              <a:t>Разные версии </a:t>
            </a:r>
            <a:r>
              <a:rPr lang="en-US" sz="2400" dirty="0"/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PEPs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Community</a:t>
            </a:r>
            <a:endParaRPr lang="ru-RU" sz="24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6B0B865D-4B99-D74A-AE7C-E249022D2588}"/>
              </a:ext>
            </a:extLst>
          </p:cNvPr>
          <p:cNvSpPr/>
          <p:nvPr/>
        </p:nvSpPr>
        <p:spPr bwMode="auto">
          <a:xfrm>
            <a:off x="7755037" y="3429000"/>
            <a:ext cx="410438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dirty="0"/>
              <a:t>Гвидо </a:t>
            </a:r>
            <a:r>
              <a:rPr lang="ru-RU" sz="2800" dirty="0" err="1"/>
              <a:t>ван</a:t>
            </a:r>
            <a:r>
              <a:rPr lang="ru-RU" sz="2800" dirty="0"/>
              <a:t> </a:t>
            </a:r>
            <a:r>
              <a:rPr lang="ru-RU" sz="2800" dirty="0" err="1"/>
              <a:t>Россум</a:t>
            </a:r>
            <a:r>
              <a:rPr lang="en-US" sz="2800" dirty="0"/>
              <a:t> c</a:t>
            </a:r>
            <a:r>
              <a:rPr lang="ru-RU" sz="2800" dirty="0" err="1"/>
              <a:t>оздатель</a:t>
            </a:r>
            <a:r>
              <a:rPr lang="ru-RU" sz="2800" dirty="0"/>
              <a:t> и </a:t>
            </a:r>
            <a:r>
              <a:rPr lang="en-US" sz="2800" dirty="0"/>
              <a:t>BDFL python</a:t>
            </a:r>
            <a:endParaRPr lang="ru-RU" sz="28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61916F-732C-3D42-9672-6F6C818CD02E}"/>
              </a:ext>
            </a:extLst>
          </p:cNvPr>
          <p:cNvSpPr/>
          <p:nvPr/>
        </p:nvSpPr>
        <p:spPr>
          <a:xfrm>
            <a:off x="439955" y="4771492"/>
            <a:ext cx="1127362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Среди разработчиков </a:t>
            </a:r>
            <a:r>
              <a:rPr lang="en" sz="2000" dirty="0">
                <a:solidFill>
                  <a:srgbClr val="202122"/>
                </a:solidFill>
                <a:latin typeface="Arial" panose="020B0604020202020204" pitchFamily="34" charset="0"/>
              </a:rPr>
              <a:t>Python </a:t>
            </a:r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Гвидо известен как «</a:t>
            </a:r>
            <a:r>
              <a:rPr lang="ru-RU" sz="2000" dirty="0">
                <a:solidFill>
                  <a:srgbClr val="0645AD"/>
                </a:solidFill>
                <a:latin typeface="Arial" panose="020B0604020202020204" pitchFamily="34" charset="0"/>
                <a:hlinkClick r:id="rId4" tooltip="Великодушный пожизненный диктатор"/>
              </a:rPr>
              <a:t>великодушный пожизненный диктатор</a:t>
            </a:r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» (</a:t>
            </a:r>
            <a:r>
              <a:rPr lang="en" sz="2000" dirty="0">
                <a:solidFill>
                  <a:srgbClr val="202122"/>
                </a:solidFill>
                <a:latin typeface="Arial" panose="020B0604020202020204" pitchFamily="34" charset="0"/>
              </a:rPr>
              <a:t>BDFL) </a:t>
            </a:r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проекта</a:t>
            </a:r>
            <a:r>
              <a:rPr lang="en" sz="2000" dirty="0">
                <a:solidFill>
                  <a:srgbClr val="202122"/>
                </a:solidFill>
                <a:latin typeface="Arial" panose="020B0604020202020204" pitchFamily="34" charset="0"/>
              </a:rPr>
              <a:t>,</a:t>
            </a:r>
            <a:r>
              <a:rPr lang="ru-RU" sz="2000" baseline="30000" dirty="0">
                <a:solidFill>
                  <a:srgbClr val="0645AD"/>
                </a:solidFill>
                <a:latin typeface="Arial" panose="020B0604020202020204" pitchFamily="34" charset="0"/>
              </a:rPr>
              <a:t> </a:t>
            </a:r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он продолжает наблюдать за процессом разработки </a:t>
            </a:r>
            <a:r>
              <a:rPr lang="en" sz="2000" dirty="0">
                <a:solidFill>
                  <a:srgbClr val="202122"/>
                </a:solidFill>
                <a:latin typeface="Arial" panose="020B0604020202020204" pitchFamily="34" charset="0"/>
              </a:rPr>
              <a:t>Python, </a:t>
            </a:r>
            <a:r>
              <a:rPr lang="ru-RU" sz="2000" dirty="0">
                <a:solidFill>
                  <a:srgbClr val="202122"/>
                </a:solidFill>
                <a:latin typeface="Arial" panose="020B0604020202020204" pitchFamily="34" charset="0"/>
              </a:rPr>
              <a:t>принимая окончательные решения, когда это необходимо. С июля 2018 года Гвидо ушел в постоянный отпуск от диктаторства, оставив за собой право быть обычным разработчиком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486713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Python Enhancement Proposals</a:t>
            </a: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0" y="1027946"/>
            <a:ext cx="54748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AAC03D9-AF56-2A40-A5B4-A3C29D6AB879}"/>
              </a:ext>
            </a:extLst>
          </p:cNvPr>
          <p:cNvSpPr/>
          <p:nvPr/>
        </p:nvSpPr>
        <p:spPr bwMode="auto">
          <a:xfrm>
            <a:off x="-1" y="1027946"/>
            <a:ext cx="13554636" cy="86177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PEP8 </a:t>
            </a:r>
            <a:r>
              <a:rPr lang="ru-RU" sz="3200" dirty="0"/>
              <a:t>инструкция по написанию кода на </a:t>
            </a:r>
            <a:r>
              <a:rPr lang="en-US" sz="3200" dirty="0"/>
              <a:t>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PEP20 </a:t>
            </a:r>
            <a:r>
              <a:rPr lang="ru-RU" sz="3200" dirty="0"/>
              <a:t>дзен </a:t>
            </a:r>
            <a:r>
              <a:rPr lang="en-US" sz="3200" dirty="0"/>
              <a:t>Python </a:t>
            </a:r>
          </a:p>
          <a:p>
            <a:pPr lvl="2"/>
            <a:r>
              <a:rPr lang="ru-RU" sz="1400" dirty="0"/>
              <a:t>Красивое лучше, чем уродливое.</a:t>
            </a:r>
          </a:p>
          <a:p>
            <a:pPr lvl="2"/>
            <a:r>
              <a:rPr lang="ru-RU" sz="1400" dirty="0"/>
              <a:t>Явное лучше, чем неявное.</a:t>
            </a:r>
          </a:p>
          <a:p>
            <a:pPr lvl="2"/>
            <a:r>
              <a:rPr lang="ru-RU" sz="1400" dirty="0"/>
              <a:t>Простое лучше, чем сложное.</a:t>
            </a:r>
          </a:p>
          <a:p>
            <a:pPr lvl="2"/>
            <a:r>
              <a:rPr lang="ru-RU" sz="1400" dirty="0"/>
              <a:t>Сложное лучше, чем запутанное.</a:t>
            </a:r>
          </a:p>
          <a:p>
            <a:pPr lvl="2"/>
            <a:r>
              <a:rPr lang="ru-RU" sz="1400" dirty="0"/>
              <a:t>Плоское лучше, чем вложенное.</a:t>
            </a:r>
          </a:p>
          <a:p>
            <a:pPr lvl="2"/>
            <a:r>
              <a:rPr lang="ru-RU" sz="1400" dirty="0"/>
              <a:t>Разреженное лучше, чем плотное.</a:t>
            </a:r>
          </a:p>
          <a:p>
            <a:pPr lvl="2"/>
            <a:r>
              <a:rPr lang="ru-RU" sz="1400" dirty="0"/>
              <a:t>Читаемость имеет значение.</a:t>
            </a:r>
          </a:p>
          <a:p>
            <a:pPr lvl="2"/>
            <a:r>
              <a:rPr lang="ru-RU" sz="1400" dirty="0"/>
              <a:t>Особые случаи не настолько особые, чтобы нарушать правила.</a:t>
            </a:r>
          </a:p>
          <a:p>
            <a:pPr lvl="2"/>
            <a:r>
              <a:rPr lang="ru-RU" sz="1400" dirty="0"/>
              <a:t>При этом практичность важнее безупречности.</a:t>
            </a:r>
          </a:p>
          <a:p>
            <a:pPr lvl="2"/>
            <a:r>
              <a:rPr lang="ru-RU" sz="1400" dirty="0"/>
              <a:t>Ошибки никогда не должны замалчиваться.</a:t>
            </a:r>
          </a:p>
          <a:p>
            <a:pPr lvl="2"/>
            <a:r>
              <a:rPr lang="ru-RU" sz="1400" dirty="0"/>
              <a:t>Если они не замалчиваются явно.</a:t>
            </a:r>
          </a:p>
          <a:p>
            <a:pPr lvl="2"/>
            <a:r>
              <a:rPr lang="ru-RU" sz="1400" dirty="0"/>
              <a:t>Встретив двусмысленность, отбрось искушение угадать.</a:t>
            </a:r>
          </a:p>
          <a:p>
            <a:pPr lvl="2"/>
            <a:r>
              <a:rPr lang="ru-RU" sz="1400" dirty="0"/>
              <a:t>Должен существовать один и, желательно, только один очевидный способ сделать это.</a:t>
            </a:r>
          </a:p>
          <a:p>
            <a:pPr lvl="2"/>
            <a:r>
              <a:rPr lang="ru-RU" sz="1400" dirty="0"/>
              <a:t>Хотя он поначалу может быть и не очевиден, если вы не голландец</a:t>
            </a:r>
          </a:p>
          <a:p>
            <a:pPr lvl="2"/>
            <a:r>
              <a:rPr lang="ru-RU" sz="1400" dirty="0"/>
              <a:t>Сейчас лучше, чем никогда.</a:t>
            </a:r>
          </a:p>
          <a:p>
            <a:pPr lvl="2"/>
            <a:r>
              <a:rPr lang="ru-RU" sz="1400" dirty="0"/>
              <a:t>Хотя никогда зачастую лучше, чем прямо сейчас.</a:t>
            </a:r>
          </a:p>
          <a:p>
            <a:pPr lvl="2"/>
            <a:r>
              <a:rPr lang="ru-RU" sz="1400" dirty="0"/>
              <a:t>Если реализацию сложно объяснить — идея плоха.</a:t>
            </a:r>
          </a:p>
          <a:p>
            <a:pPr lvl="2"/>
            <a:r>
              <a:rPr lang="ru-RU" sz="1400" dirty="0"/>
              <a:t>Если реализацию легко объяснить — идея, возможно, хороша.</a:t>
            </a:r>
          </a:p>
          <a:p>
            <a:pPr lvl="2"/>
            <a:r>
              <a:rPr lang="ru-RU" sz="1400" dirty="0"/>
              <a:t>Пространства имён — отличная штука! Будем делать их больше!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0966901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8687CE12-95D7-9A49-8323-1F17D8D33BCE}"/>
              </a:ext>
            </a:extLst>
          </p:cNvPr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Важно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F5A1F4-181B-704C-AE05-E5E63BEE733A}"/>
              </a:ext>
            </a:extLst>
          </p:cNvPr>
          <p:cNvSpPr/>
          <p:nvPr/>
        </p:nvSpPr>
        <p:spPr bwMode="auto">
          <a:xfrm>
            <a:off x="-1" y="1027946"/>
            <a:ext cx="1032734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 </a:t>
            </a:r>
            <a:r>
              <a:rPr lang="en-US" sz="3200" dirty="0"/>
              <a:t>Python </a:t>
            </a:r>
            <a:r>
              <a:rPr lang="ru-RU" sz="3200" dirty="0"/>
              <a:t>всё является объектами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 </a:t>
            </a:r>
            <a:r>
              <a:rPr lang="en-US" sz="3200" dirty="0"/>
              <a:t>Python </a:t>
            </a:r>
            <a:r>
              <a:rPr lang="ru-RU" sz="3200" dirty="0"/>
              <a:t>утиная типизация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 </a:t>
            </a:r>
            <a:r>
              <a:rPr lang="en-US" sz="3200" dirty="0"/>
              <a:t>Python </a:t>
            </a:r>
            <a:r>
              <a:rPr lang="ru-RU" sz="3200" dirty="0"/>
              <a:t>переменные это ссылки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интерпретатор в </a:t>
            </a:r>
            <a:r>
              <a:rPr lang="en-US" sz="3200" dirty="0"/>
              <a:t>Python </a:t>
            </a:r>
            <a:r>
              <a:rPr lang="ru-RU" sz="3200" dirty="0"/>
              <a:t>ориентируется на отступы в коде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Python </a:t>
            </a:r>
            <a:r>
              <a:rPr lang="ru-RU" sz="3200" dirty="0"/>
              <a:t>чувствителен к регистру </a:t>
            </a:r>
            <a:r>
              <a:rPr lang="en-US" sz="3200" dirty="0"/>
              <a:t>True != true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2" name="Знак запрета 1">
            <a:extLst>
              <a:ext uri="{FF2B5EF4-FFF2-40B4-BE49-F238E27FC236}">
                <a16:creationId xmlns:a16="http://schemas.microsoft.com/office/drawing/2014/main" id="{EB0DB04D-0921-4643-848E-45A07EA98ECC}"/>
              </a:ext>
            </a:extLst>
          </p:cNvPr>
          <p:cNvSpPr/>
          <p:nvPr/>
        </p:nvSpPr>
        <p:spPr>
          <a:xfrm>
            <a:off x="7382562" y="3419167"/>
            <a:ext cx="689811" cy="609600"/>
          </a:xfrm>
          <a:prstGeom prst="noSmoking">
            <a:avLst/>
          </a:prstGeom>
          <a:solidFill>
            <a:schemeClr val="accent1">
              <a:alpha val="32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9217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5" y="404664"/>
            <a:ext cx="9598499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IDE – Integrated Development </a:t>
            </a:r>
            <a:r>
              <a:rPr lang="en-US" sz="4000" b="1" dirty="0" err="1">
                <a:solidFill>
                  <a:srgbClr val="333F48"/>
                </a:solidFill>
                <a:latin typeface="SB Sans Display Semibold"/>
                <a:cs typeface="SB Sans Display Semibold"/>
              </a:rPr>
              <a:t>Enviroment</a:t>
            </a:r>
            <a:r>
              <a:rPr lang="en-US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 </a:t>
            </a: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312518" y="1340462"/>
            <a:ext cx="13854897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" sz="2400" dirty="0"/>
              <a:t>Anaconda</a:t>
            </a:r>
            <a:r>
              <a:rPr lang="ru-RU" sz="2400" dirty="0"/>
              <a:t> </a:t>
            </a:r>
            <a:endParaRPr lang="en" sz="24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" sz="2400" dirty="0" err="1"/>
              <a:t>Jupyter</a:t>
            </a:r>
            <a:r>
              <a:rPr lang="ru-RU" sz="2400" dirty="0"/>
              <a:t> – для последовательных расчетов (</a:t>
            </a:r>
            <a:r>
              <a:rPr lang="en-US" sz="2400" dirty="0"/>
              <a:t>REPL)</a:t>
            </a:r>
            <a:endParaRPr lang="en" sz="24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r>
              <a:rPr lang="en" sz="2400" dirty="0"/>
              <a:t>Spyder</a:t>
            </a:r>
            <a:r>
              <a:rPr lang="ru-RU" sz="2400" dirty="0"/>
              <a:t> – для тех </a:t>
            </a:r>
            <a:r>
              <a:rPr lang="ru-RU" sz="2400" dirty="0" err="1"/>
              <a:t>питонистов</a:t>
            </a:r>
            <a:r>
              <a:rPr lang="ru-RU" sz="2400" dirty="0"/>
              <a:t>, кто любит </a:t>
            </a:r>
            <a:r>
              <a:rPr lang="en-US" sz="2400" dirty="0" err="1"/>
              <a:t>Rstudio</a:t>
            </a:r>
            <a:endParaRPr lang="ru-RU" sz="24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" sz="2400" dirty="0"/>
              <a:t>PyCharm – </a:t>
            </a:r>
            <a:r>
              <a:rPr lang="ru-RU" sz="2400" dirty="0"/>
              <a:t>отличная </a:t>
            </a:r>
            <a:r>
              <a:rPr lang="en-US" sz="2400" dirty="0"/>
              <a:t>IDE</a:t>
            </a:r>
            <a:r>
              <a:rPr lang="ru-RU" sz="2400" dirty="0"/>
              <a:t>, но </a:t>
            </a:r>
            <a:r>
              <a:rPr lang="en" sz="2400" dirty="0"/>
              <a:t>PyCharm </a:t>
            </a:r>
            <a:r>
              <a:rPr lang="en-US" sz="2400" dirty="0"/>
              <a:t>PRO </a:t>
            </a:r>
            <a:r>
              <a:rPr lang="ru-RU" sz="2400" dirty="0"/>
              <a:t>платная</a:t>
            </a:r>
            <a:r>
              <a:rPr lang="en-US" sz="2400" dirty="0"/>
              <a:t> </a:t>
            </a:r>
            <a:endParaRPr lang="en" sz="24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" sz="2400" dirty="0" err="1"/>
              <a:t>VSCode</a:t>
            </a:r>
            <a:r>
              <a:rPr lang="ru-RU" sz="2400" dirty="0"/>
              <a:t> – отличная, </a:t>
            </a:r>
            <a:r>
              <a:rPr lang="ru-RU" sz="2400" b="1" dirty="0"/>
              <a:t>бесплатная</a:t>
            </a:r>
            <a:r>
              <a:rPr lang="ru-RU" sz="2400" dirty="0"/>
              <a:t>, но не такая классная как </a:t>
            </a:r>
            <a:r>
              <a:rPr lang="en-US" sz="2400" dirty="0"/>
              <a:t>PyCharm</a:t>
            </a:r>
            <a:r>
              <a:rPr lang="ru-RU" sz="2400" dirty="0"/>
              <a:t> </a:t>
            </a:r>
            <a:r>
              <a:rPr lang="en-US" sz="2400" dirty="0"/>
              <a:t>PRO</a:t>
            </a:r>
            <a:endParaRPr lang="ru-RU" sz="2400" dirty="0"/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Colab</a:t>
            </a:r>
            <a:r>
              <a:rPr lang="en-US" sz="2400" dirty="0"/>
              <a:t> – </a:t>
            </a:r>
            <a:r>
              <a:rPr lang="ru-RU" sz="2400" dirty="0"/>
              <a:t>облачная </a:t>
            </a:r>
            <a:r>
              <a:rPr lang="en-US" sz="2400" dirty="0"/>
              <a:t>IDE </a:t>
            </a:r>
            <a:r>
              <a:rPr lang="ru-RU" sz="2400" dirty="0"/>
              <a:t>с возможностью запуска </a:t>
            </a:r>
            <a:r>
              <a:rPr lang="en-US" sz="2400" dirty="0"/>
              <a:t>GPU</a:t>
            </a:r>
            <a:endParaRPr lang="en" sz="24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ru-RU" sz="2400" dirty="0"/>
          </a:p>
          <a:p>
            <a:pPr marL="1828800" lvl="3" indent="-457200">
              <a:buFont typeface="Arial" panose="020B0604020202020204" pitchFamily="34" charset="0"/>
              <a:buChar char="•"/>
            </a:pPr>
            <a:endParaRPr lang="en" sz="2400" dirty="0"/>
          </a:p>
          <a:p>
            <a:pPr lvl="3"/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47625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Типы данных</a:t>
            </a: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algn="ctr"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str – </a:t>
            </a:r>
            <a:r>
              <a:rPr lang="ru-RU" sz="3200" dirty="0"/>
              <a:t>строки</a:t>
            </a:r>
            <a:r>
              <a:rPr lang="en-US" sz="3200" dirty="0"/>
              <a:t> </a:t>
            </a:r>
            <a:r>
              <a:rPr lang="ru-RU" sz="3200" dirty="0"/>
              <a:t>  </a:t>
            </a:r>
            <a:r>
              <a:rPr lang="en-US" sz="3200" dirty="0"/>
              <a:t>”Hello“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int</a:t>
            </a:r>
            <a:r>
              <a:rPr lang="ru-RU" sz="3200" dirty="0"/>
              <a:t> </a:t>
            </a:r>
            <a:r>
              <a:rPr lang="en-US" sz="3200" dirty="0"/>
              <a:t>–</a:t>
            </a:r>
            <a:r>
              <a:rPr lang="ru-RU" sz="3200" dirty="0"/>
              <a:t> целые числа</a:t>
            </a:r>
            <a:r>
              <a:rPr lang="en-US" sz="3200" dirty="0"/>
              <a:t>  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float</a:t>
            </a:r>
            <a:r>
              <a:rPr lang="ru-RU" sz="3200" dirty="0"/>
              <a:t> – вещественные числа </a:t>
            </a:r>
            <a:r>
              <a:rPr lang="en-US" sz="3200" dirty="0"/>
              <a:t>0.1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bool</a:t>
            </a:r>
            <a:r>
              <a:rPr lang="ru-RU" sz="3200" dirty="0"/>
              <a:t> – </a:t>
            </a:r>
            <a:r>
              <a:rPr lang="en-US" sz="3200" dirty="0"/>
              <a:t>True </a:t>
            </a:r>
            <a:r>
              <a:rPr lang="ru-RU" sz="3200" dirty="0"/>
              <a:t>или </a:t>
            </a:r>
            <a:r>
              <a:rPr lang="en-US" sz="3200" dirty="0"/>
              <a:t>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bytes – </a:t>
            </a:r>
            <a:r>
              <a:rPr lang="en-US" sz="3200" dirty="0" err="1"/>
              <a:t>b”hello</a:t>
            </a:r>
            <a:r>
              <a:rPr lang="en-US" sz="3200" dirty="0"/>
              <a:t>”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None - </a:t>
            </a:r>
            <a:r>
              <a:rPr lang="ru-RU" sz="3200" dirty="0"/>
              <a:t>ничто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031918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628944" y="488716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Контейнеры</a:t>
            </a:r>
            <a:endParaRPr lang="en-US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  <a:p>
            <a:pPr algn="ctr"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List </a:t>
            </a:r>
            <a:r>
              <a:rPr lang="ru-RU" sz="3200" dirty="0"/>
              <a:t>список </a:t>
            </a:r>
            <a:r>
              <a:rPr lang="en-US" sz="3200" dirty="0"/>
              <a:t>- [ 1,2,’Hello’] - mutable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Tuple</a:t>
            </a:r>
            <a:r>
              <a:rPr lang="ru-RU" sz="3200" dirty="0"/>
              <a:t> –</a:t>
            </a:r>
            <a:r>
              <a:rPr lang="en-US" sz="3200" dirty="0"/>
              <a:t> </a:t>
            </a:r>
            <a:r>
              <a:rPr lang="ru-RU" sz="3200" dirty="0"/>
              <a:t>кортеж </a:t>
            </a:r>
            <a:r>
              <a:rPr lang="en-US" sz="3200" dirty="0"/>
              <a:t> (1,2, ‘Hello’) - immutable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Dict</a:t>
            </a:r>
            <a:r>
              <a:rPr lang="en-US" sz="3200" dirty="0"/>
              <a:t> – </a:t>
            </a:r>
            <a:r>
              <a:rPr lang="ru-RU" sz="3200" dirty="0"/>
              <a:t>пара ключ значение</a:t>
            </a:r>
            <a:r>
              <a:rPr lang="en-US" sz="3200" dirty="0"/>
              <a:t> {’</a:t>
            </a:r>
            <a:r>
              <a:rPr lang="en-US" sz="3200" dirty="0" err="1"/>
              <a:t>Wasya</a:t>
            </a:r>
            <a:r>
              <a:rPr lang="en-US" sz="3200" dirty="0"/>
              <a:t>’: ‘</a:t>
            </a:r>
            <a:r>
              <a:rPr lang="ru-RU" sz="3200" dirty="0"/>
              <a:t>студент</a:t>
            </a:r>
            <a:r>
              <a:rPr lang="en-US" sz="3200" dirty="0"/>
              <a:t>’} - mutable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Set</a:t>
            </a:r>
            <a:r>
              <a:rPr lang="ru-RU" sz="3200" dirty="0"/>
              <a:t> – множество</a:t>
            </a:r>
            <a:r>
              <a:rPr lang="en-US" sz="3200" dirty="0"/>
              <a:t> {1,2,3,} – mutable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Frozenset</a:t>
            </a:r>
            <a:r>
              <a:rPr lang="en-US" sz="3200" dirty="0"/>
              <a:t>  </a:t>
            </a:r>
            <a:r>
              <a:rPr lang="ru-RU" sz="3200" dirty="0"/>
              <a:t>-</a:t>
            </a:r>
            <a:r>
              <a:rPr lang="en-US" sz="3200" dirty="0"/>
              <a:t> </a:t>
            </a:r>
            <a:r>
              <a:rPr lang="ru-RU" sz="3200" dirty="0"/>
              <a:t>множество</a:t>
            </a:r>
            <a:r>
              <a:rPr lang="en-US" sz="3200" dirty="0"/>
              <a:t> {1,2,3,} – immutable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184441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Операции со строками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2877801" cy="109260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”</a:t>
            </a:r>
            <a:r>
              <a:rPr lang="en-US" sz="3200" dirty="0"/>
              <a:t>Hello</a:t>
            </a:r>
            <a:r>
              <a:rPr lang="ru-RU" sz="3200" dirty="0"/>
              <a:t>”</a:t>
            </a:r>
            <a:r>
              <a:rPr lang="en-US" sz="3200" dirty="0"/>
              <a:t> + “world”</a:t>
            </a:r>
            <a:r>
              <a:rPr lang="ru-RU" sz="3200" dirty="0"/>
              <a:t> - конкатенация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“hello”*10</a:t>
            </a:r>
            <a:r>
              <a:rPr lang="ru-RU" sz="3200" dirty="0"/>
              <a:t>  - размножение строк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”Hello”[:2]</a:t>
            </a:r>
            <a:r>
              <a:rPr lang="ru-RU" sz="3200" dirty="0"/>
              <a:t>  - срезы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”hello”[::-1]</a:t>
            </a:r>
            <a:r>
              <a:rPr lang="ru-RU" sz="3200" dirty="0"/>
              <a:t> – разворот строки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”Hello </a:t>
            </a:r>
            <a:r>
              <a:rPr lang="en-US" sz="3200" dirty="0" err="1"/>
              <a:t>World”.split</a:t>
            </a:r>
            <a:r>
              <a:rPr lang="en-US" sz="3200" dirty="0"/>
              <a:t>(‘ ‘) – </a:t>
            </a:r>
            <a:r>
              <a:rPr lang="ru-RU" sz="3200" dirty="0"/>
              <a:t>разбиение строки на кусочки в список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‘ ‘.join([‘hello’, ‘world’])</a:t>
            </a:r>
            <a:r>
              <a:rPr lang="ru-RU" sz="3200" dirty="0"/>
              <a:t> – объединение списка строк в одну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startswith</a:t>
            </a:r>
            <a:r>
              <a:rPr lang="en-US" sz="3200" dirty="0"/>
              <a:t>() </a:t>
            </a:r>
            <a:r>
              <a:rPr lang="ru-RU" sz="3200" dirty="0"/>
              <a:t>и  </a:t>
            </a:r>
            <a:r>
              <a:rPr lang="en-US" sz="3200" dirty="0" err="1"/>
              <a:t>endswith</a:t>
            </a:r>
            <a:r>
              <a:rPr lang="en-US" sz="3200" dirty="0"/>
              <a:t>() – </a:t>
            </a:r>
            <a:r>
              <a:rPr lang="ru-RU" sz="3200" dirty="0"/>
              <a:t>проверка на наличие подстроки</a:t>
            </a:r>
          </a:p>
          <a:p>
            <a:r>
              <a:rPr lang="en-US" sz="3200" dirty="0"/>
              <a:t>user = ‘Alex’</a:t>
            </a:r>
          </a:p>
          <a:p>
            <a:r>
              <a:rPr lang="en-US" sz="3200" dirty="0"/>
              <a:t>’Hello {user}’.format(user) </a:t>
            </a:r>
            <a:r>
              <a:rPr lang="ru-RU" sz="3200" dirty="0"/>
              <a:t>– подставляет значение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f’Hello</a:t>
            </a:r>
            <a:r>
              <a:rPr lang="en-US" sz="3200" dirty="0"/>
              <a:t> {user}’  </a:t>
            </a:r>
            <a:r>
              <a:rPr lang="ru-RU" sz="3200" dirty="0"/>
              <a:t>ф-строки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42374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Операции с числами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+ 1 сложение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1 - 1  вычитание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* 1   умножение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** 1  возведение в степень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/ 1  деление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// 1  деление без остатка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1 % 1  остаток от деления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2194091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Методы списков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100642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 </a:t>
            </a:r>
            <a:r>
              <a:rPr lang="ru-RU" sz="3200" dirty="0"/>
              <a:t>Срезы </a:t>
            </a:r>
            <a:r>
              <a:rPr lang="en-US" sz="3200" dirty="0"/>
              <a:t> - [1,2,3,4,5][:3]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.append(‘1’)</a:t>
            </a:r>
            <a:r>
              <a:rPr lang="ru-RU" sz="3200" dirty="0"/>
              <a:t> добавить элемент в список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.extend([‘1’]) </a:t>
            </a:r>
            <a:r>
              <a:rPr lang="ru-RU" sz="3200" dirty="0"/>
              <a:t>или  </a:t>
            </a:r>
            <a:r>
              <a:rPr lang="en-US" sz="3200" dirty="0"/>
              <a:t>[‘1’] + [‘1’]</a:t>
            </a:r>
            <a:r>
              <a:rPr lang="ru-RU" sz="3200" dirty="0"/>
              <a:t> объединение списков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.pop(1)</a:t>
            </a:r>
            <a:r>
              <a:rPr lang="ru-RU" sz="3200" dirty="0"/>
              <a:t>  удаление элемента по индексу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.remove(‘1’)</a:t>
            </a:r>
            <a:r>
              <a:rPr lang="ru-RU" sz="3200" dirty="0"/>
              <a:t> </a:t>
            </a:r>
            <a:r>
              <a:rPr lang="en-US" sz="3200" dirty="0"/>
              <a:t>)</a:t>
            </a:r>
            <a:r>
              <a:rPr lang="ru-RU" sz="3200" dirty="0"/>
              <a:t>  удаление определенного элемента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.index(‘1’)</a:t>
            </a:r>
            <a:r>
              <a:rPr lang="ru-RU" sz="3200" dirty="0"/>
              <a:t> индекс элемента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*</a:t>
            </a:r>
            <a:r>
              <a:rPr lang="ru-RU" sz="3200" dirty="0"/>
              <a:t>распаковка </a:t>
            </a:r>
            <a:endParaRPr lang="en-US" sz="32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a = [1,2,3]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b = [*a,4,5,6]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" sz="2400" dirty="0"/>
              <a:t>print(b) </a:t>
            </a:r>
            <a:r>
              <a:rPr lang="en" sz="2400" i="1" dirty="0"/>
              <a:t># [1,2,3,4,5,6]</a:t>
            </a:r>
            <a:endParaRPr lang="en-US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899841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Основные методы словарей</a:t>
            </a:r>
          </a:p>
          <a:p>
            <a:pPr algn="ctr">
              <a:defRPr/>
            </a:pPr>
            <a:endParaRPr lang="ru-RU" sz="4000" b="1" dirty="0">
              <a:solidFill>
                <a:srgbClr val="333F48"/>
              </a:solidFill>
              <a:latin typeface="SB Sans Display Semibold"/>
              <a:cs typeface="SB Sans Display Semibold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A68C79-D2E4-734A-85FB-9848CE7791DF}"/>
              </a:ext>
            </a:extLst>
          </p:cNvPr>
          <p:cNvSpPr/>
          <p:nvPr/>
        </p:nvSpPr>
        <p:spPr bwMode="auto">
          <a:xfrm>
            <a:off x="0" y="1027946"/>
            <a:ext cx="11399520" cy="79714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a[1] = ’hello’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a[1]  </a:t>
            </a:r>
            <a:r>
              <a:rPr lang="ru-RU" sz="3200" dirty="0"/>
              <a:t>извлечение по ключу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a.get</a:t>
            </a:r>
            <a:r>
              <a:rPr lang="en-US" sz="3200" dirty="0"/>
              <a:t>(1)</a:t>
            </a:r>
            <a:r>
              <a:rPr lang="ru-RU" sz="3200" dirty="0"/>
              <a:t> </a:t>
            </a:r>
            <a:r>
              <a:rPr lang="en-US" sz="3200" dirty="0"/>
              <a:t> </a:t>
            </a:r>
            <a:r>
              <a:rPr lang="ru-RU" sz="3200" dirty="0"/>
              <a:t>безопасное извлечение</a:t>
            </a:r>
            <a:endParaRPr lang="en-US" sz="3200" dirty="0"/>
          </a:p>
          <a:p>
            <a:r>
              <a:rPr lang="en-US" sz="3200" dirty="0"/>
              <a:t>_______________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a.items</a:t>
            </a:r>
            <a:r>
              <a:rPr lang="en-US" sz="3200" dirty="0"/>
              <a:t>()</a:t>
            </a:r>
            <a:r>
              <a:rPr lang="ru-RU" sz="3200" dirty="0"/>
              <a:t> – </a:t>
            </a:r>
            <a:r>
              <a:rPr lang="ru-RU" sz="3200" dirty="0" err="1"/>
              <a:t>возващает</a:t>
            </a:r>
            <a:r>
              <a:rPr lang="ru-RU" sz="3200" dirty="0"/>
              <a:t> кортежи пар ключ значение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a.keys</a:t>
            </a:r>
            <a:r>
              <a:rPr lang="en-US" sz="3200" dirty="0"/>
              <a:t>()</a:t>
            </a:r>
            <a:r>
              <a:rPr lang="ru-RU" sz="3200" dirty="0"/>
              <a:t> - ключи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a.values</a:t>
            </a:r>
            <a:r>
              <a:rPr lang="en-US" sz="3200" dirty="0"/>
              <a:t>()</a:t>
            </a:r>
            <a:r>
              <a:rPr lang="ru-RU" sz="3200" dirty="0"/>
              <a:t> – значения</a:t>
            </a:r>
            <a:endParaRPr lang="en-US" sz="3200" dirty="0"/>
          </a:p>
          <a:p>
            <a:r>
              <a:rPr lang="en-US" sz="3200" dirty="0"/>
              <a:t>_______________</a:t>
            </a:r>
          </a:p>
          <a:p>
            <a:r>
              <a:rPr lang="en-US" sz="3200" dirty="0"/>
              <a:t>**</a:t>
            </a:r>
            <a:r>
              <a:rPr lang="ru-RU" sz="3200" dirty="0"/>
              <a:t> распаковка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652426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Основные методы множеств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FE7601F-A1C5-B24A-845F-CE9A5AB1F7AF}"/>
              </a:ext>
            </a:extLst>
          </p:cNvPr>
          <p:cNvSpPr/>
          <p:nvPr/>
        </p:nvSpPr>
        <p:spPr bwMode="auto">
          <a:xfrm>
            <a:off x="-1" y="1027946"/>
            <a:ext cx="1032734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set([1,2,3])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.intersection</a:t>
            </a:r>
            <a:r>
              <a:rPr lang="ru-RU" sz="3200" dirty="0"/>
              <a:t> - пере</a:t>
            </a:r>
            <a:r>
              <a:rPr lang="en-US" sz="3200" dirty="0"/>
              <a:t>c</a:t>
            </a:r>
            <a:r>
              <a:rPr lang="ru-RU" sz="3200" dirty="0" err="1"/>
              <a:t>ечение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.union</a:t>
            </a:r>
            <a:r>
              <a:rPr lang="ru-RU" sz="3200" dirty="0"/>
              <a:t> – объединение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.difference</a:t>
            </a:r>
            <a:r>
              <a:rPr lang="ru-RU" sz="3200" dirty="0"/>
              <a:t> - разница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83564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8687CE12-95D7-9A49-8323-1F17D8D33BCE}"/>
              </a:ext>
            </a:extLst>
          </p:cNvPr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Очень полезные функции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9F416D1-0C6F-4B48-88D9-52714064F202}"/>
              </a:ext>
            </a:extLst>
          </p:cNvPr>
          <p:cNvSpPr/>
          <p:nvPr/>
        </p:nvSpPr>
        <p:spPr bwMode="auto">
          <a:xfrm>
            <a:off x="-1" y="1027946"/>
            <a:ext cx="12609096" cy="747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sorted()</a:t>
            </a:r>
            <a:r>
              <a:rPr lang="ru-RU" sz="3200" dirty="0"/>
              <a:t> сортирует массивы</a:t>
            </a:r>
            <a:r>
              <a:rPr lang="en-US" sz="3200" dirty="0"/>
              <a:t> </a:t>
            </a:r>
            <a:r>
              <a:rPr lang="ru-RU" sz="3200" dirty="0"/>
              <a:t>по ключу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range()</a:t>
            </a:r>
            <a:r>
              <a:rPr lang="ru-RU" sz="3200" dirty="0"/>
              <a:t> создает числовую последовательность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zip(),</a:t>
            </a:r>
            <a:r>
              <a:rPr lang="ru-RU" sz="3200" dirty="0"/>
              <a:t> собирает в пары объекты массивов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enumerate()</a:t>
            </a:r>
            <a:r>
              <a:rPr lang="ru-RU" sz="3200" dirty="0"/>
              <a:t> переводит </a:t>
            </a:r>
            <a:r>
              <a:rPr lang="en-US" sz="3200" dirty="0" err="1"/>
              <a:t>iterable</a:t>
            </a:r>
            <a:r>
              <a:rPr lang="en-US" sz="3200" dirty="0"/>
              <a:t> </a:t>
            </a:r>
            <a:r>
              <a:rPr lang="ru-RU" sz="3200" dirty="0"/>
              <a:t>в кортеж (индекс</a:t>
            </a:r>
            <a:r>
              <a:rPr lang="en-US" sz="3200" dirty="0"/>
              <a:t>, </a:t>
            </a:r>
            <a:r>
              <a:rPr lang="en-US" sz="3200" dirty="0" err="1"/>
              <a:t>iterable_item</a:t>
            </a:r>
            <a:r>
              <a:rPr lang="en-US" sz="32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print()</a:t>
            </a:r>
            <a:r>
              <a:rPr lang="ru-RU" sz="3200" dirty="0"/>
              <a:t> – вывод строки/объекта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len</a:t>
            </a:r>
            <a:r>
              <a:rPr lang="en-US" sz="3200" dirty="0"/>
              <a:t>() – </a:t>
            </a:r>
            <a:r>
              <a:rPr lang="ru-RU" sz="3200" dirty="0"/>
              <a:t>длина строки/массива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pass </a:t>
            </a:r>
            <a:r>
              <a:rPr lang="ru-RU" sz="3200" dirty="0"/>
              <a:t>или </a:t>
            </a:r>
            <a:r>
              <a:rPr lang="en-US" sz="3200" dirty="0"/>
              <a:t>… </a:t>
            </a:r>
            <a:r>
              <a:rPr lang="ru-RU" sz="3200" dirty="0"/>
              <a:t>функции, которые официально ничего не делают</a:t>
            </a:r>
            <a:r>
              <a:rPr lang="en-US" sz="3200" dirty="0"/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14830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8687CE12-95D7-9A49-8323-1F17D8D33BCE}"/>
              </a:ext>
            </a:extLst>
          </p:cNvPr>
          <p:cNvSpPr>
            <a:spLocks/>
          </p:cNvSpPr>
          <p:nvPr/>
        </p:nvSpPr>
        <p:spPr bwMode="auto">
          <a:xfrm>
            <a:off x="-424543" y="404664"/>
            <a:ext cx="12104913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Определение функции и порядок аргументов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C59D672-7AAC-1445-88D4-9B65B70FD709}"/>
              </a:ext>
            </a:extLst>
          </p:cNvPr>
          <p:cNvSpPr/>
          <p:nvPr/>
        </p:nvSpPr>
        <p:spPr bwMode="auto">
          <a:xfrm>
            <a:off x="0" y="1441603"/>
            <a:ext cx="10327341" cy="8463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def </a:t>
            </a:r>
            <a:r>
              <a:rPr lang="en-US" sz="2400" dirty="0" err="1"/>
              <a:t>greating</a:t>
            </a:r>
            <a:r>
              <a:rPr lang="en-US" sz="2400" dirty="0"/>
              <a:t>(user, </a:t>
            </a:r>
            <a:r>
              <a:rPr lang="en-US" sz="2400" dirty="0" err="1"/>
              <a:t>special_user</a:t>
            </a:r>
            <a:r>
              <a:rPr lang="en-US" sz="2400" dirty="0"/>
              <a:t>=‘Alex’, *</a:t>
            </a:r>
            <a:r>
              <a:rPr lang="en-US" sz="2400" dirty="0" err="1"/>
              <a:t>args</a:t>
            </a:r>
            <a:r>
              <a:rPr lang="en-US" sz="2400" dirty="0"/>
              <a:t>, **</a:t>
            </a:r>
            <a:r>
              <a:rPr lang="en-US" sz="2400" dirty="0" err="1"/>
              <a:t>kwargs</a:t>
            </a:r>
            <a:r>
              <a:rPr lang="en-US" sz="2400" dirty="0"/>
              <a:t>):</a:t>
            </a:r>
          </a:p>
          <a:p>
            <a:r>
              <a:rPr lang="en-US" sz="2400" dirty="0"/>
              <a:t>	”””  </a:t>
            </a:r>
            <a:r>
              <a:rPr lang="ru-RU" sz="2400" dirty="0"/>
              <a:t>Приветствует всех</a:t>
            </a:r>
            <a:r>
              <a:rPr lang="en-US" sz="2400" dirty="0"/>
              <a:t>  “””</a:t>
            </a:r>
          </a:p>
          <a:p>
            <a:endParaRPr lang="en-US" sz="2400" dirty="0"/>
          </a:p>
          <a:p>
            <a:r>
              <a:rPr lang="en-US" sz="2400" dirty="0"/>
              <a:t>	print(</a:t>
            </a:r>
            <a:r>
              <a:rPr lang="en-US" sz="2400" dirty="0" err="1"/>
              <a:t>f’Hello</a:t>
            </a:r>
            <a:r>
              <a:rPr lang="en-US" sz="2400" dirty="0"/>
              <a:t> {</a:t>
            </a:r>
            <a:r>
              <a:rPr lang="en-US" sz="2400" dirty="0" err="1"/>
              <a:t>special_user</a:t>
            </a:r>
            <a:r>
              <a:rPr lang="en-US" sz="2400" dirty="0"/>
              <a:t>}’)</a:t>
            </a:r>
          </a:p>
          <a:p>
            <a:r>
              <a:rPr lang="ru-RU" sz="2400" dirty="0"/>
              <a:t>	</a:t>
            </a:r>
            <a:r>
              <a:rPr lang="en-US" sz="2400" dirty="0"/>
              <a:t>if user:</a:t>
            </a:r>
          </a:p>
          <a:p>
            <a:r>
              <a:rPr lang="en-US" sz="2400" dirty="0"/>
              <a:t>		print(’Hello {user}’)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elif</a:t>
            </a:r>
            <a:r>
              <a:rPr lang="en-US" sz="2400" dirty="0"/>
              <a:t> </a:t>
            </a:r>
            <a:r>
              <a:rPr lang="en-US" sz="2400" dirty="0" err="1"/>
              <a:t>args</a:t>
            </a:r>
            <a:r>
              <a:rPr lang="en-US" sz="2400" dirty="0"/>
              <a:t> :</a:t>
            </a:r>
          </a:p>
          <a:p>
            <a:r>
              <a:rPr lang="en-US" sz="2400" dirty="0"/>
              <a:t>		for </a:t>
            </a:r>
            <a:r>
              <a:rPr lang="en-US" sz="2400" dirty="0" err="1"/>
              <a:t>arguser</a:t>
            </a:r>
            <a:r>
              <a:rPr lang="en-US" sz="2400" dirty="0"/>
              <a:t> in </a:t>
            </a:r>
            <a:r>
              <a:rPr lang="en-US" sz="2400" dirty="0" err="1"/>
              <a:t>args</a:t>
            </a:r>
            <a:r>
              <a:rPr lang="en-US" sz="2400" dirty="0"/>
              <a:t> :</a:t>
            </a:r>
          </a:p>
          <a:p>
            <a:r>
              <a:rPr lang="en-US" sz="2400" dirty="0"/>
              <a:t>			print(</a:t>
            </a:r>
            <a:r>
              <a:rPr lang="en-US" sz="2400" dirty="0" err="1"/>
              <a:t>arguser</a:t>
            </a:r>
            <a:r>
              <a:rPr lang="en-US" sz="2400" dirty="0"/>
              <a:t>)</a:t>
            </a:r>
          </a:p>
          <a:p>
            <a:r>
              <a:rPr lang="en-US" sz="2400" dirty="0"/>
              <a:t>	</a:t>
            </a:r>
            <a:r>
              <a:rPr lang="en-US" sz="2400" dirty="0" err="1"/>
              <a:t>elif</a:t>
            </a:r>
            <a:r>
              <a:rPr lang="en-US" sz="2400" dirty="0"/>
              <a:t> </a:t>
            </a:r>
            <a:r>
              <a:rPr lang="en-US" sz="2400" dirty="0" err="1"/>
              <a:t>kwargs</a:t>
            </a:r>
            <a:r>
              <a:rPr lang="en-US" sz="2400" dirty="0"/>
              <a:t>:</a:t>
            </a:r>
          </a:p>
          <a:p>
            <a:r>
              <a:rPr lang="en-US" sz="2400" dirty="0"/>
              <a:t>		for k, v in </a:t>
            </a:r>
            <a:r>
              <a:rPr lang="en-US" sz="2400" dirty="0" err="1"/>
              <a:t>kwargs.items</a:t>
            </a:r>
            <a:r>
              <a:rPr lang="en-US" sz="2400" dirty="0"/>
              <a:t>():</a:t>
            </a:r>
          </a:p>
          <a:p>
            <a:r>
              <a:rPr lang="en-US" sz="2400" dirty="0"/>
              <a:t>			print(</a:t>
            </a:r>
            <a:r>
              <a:rPr lang="en-US" sz="2400" dirty="0" err="1"/>
              <a:t>f’Hello</a:t>
            </a:r>
            <a:r>
              <a:rPr lang="en-US" sz="2400" dirty="0"/>
              <a:t> {k},{ v}’)</a:t>
            </a:r>
          </a:p>
          <a:p>
            <a:r>
              <a:rPr lang="en-US" sz="3200" dirty="0"/>
              <a:t>		</a:t>
            </a:r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9997193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8687CE12-95D7-9A49-8323-1F17D8D33BCE}"/>
              </a:ext>
            </a:extLst>
          </p:cNvPr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Анонимные функции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F5A1F4-181B-704C-AE05-E5E63BEE733A}"/>
              </a:ext>
            </a:extLst>
          </p:cNvPr>
          <p:cNvSpPr/>
          <p:nvPr/>
        </p:nvSpPr>
        <p:spPr bwMode="auto">
          <a:xfrm>
            <a:off x="783770" y="1027946"/>
            <a:ext cx="10327341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lambda x: x**2</a:t>
            </a:r>
          </a:p>
          <a:p>
            <a:endParaRPr lang="en-US" sz="3200" dirty="0"/>
          </a:p>
          <a:p>
            <a:r>
              <a:rPr lang="en-US" sz="3200" dirty="0"/>
              <a:t>a = lambda x: x**2</a:t>
            </a:r>
            <a:endParaRPr lang="ru-RU" sz="3200" dirty="0"/>
          </a:p>
          <a:p>
            <a:r>
              <a:rPr lang="en-US" sz="3200" dirty="0"/>
              <a:t>a(2)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Пример использования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 err="1"/>
              <a:t>some_list</a:t>
            </a:r>
            <a:r>
              <a:rPr lang="en-US" sz="3200" dirty="0"/>
              <a:t> = [1,2,3]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filter(lambda x: x &gt; 1, </a:t>
            </a:r>
            <a:r>
              <a:rPr lang="en-US" sz="3200" dirty="0" err="1"/>
              <a:t>some_list</a:t>
            </a:r>
            <a:r>
              <a:rPr lang="en-US" sz="3200" dirty="0"/>
              <a:t>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map(lambda x: x**2, </a:t>
            </a:r>
            <a:r>
              <a:rPr lang="en-US" sz="3200" dirty="0" err="1"/>
              <a:t>some_list</a:t>
            </a:r>
            <a:r>
              <a:rPr lang="en-US" sz="3200" dirty="0"/>
              <a:t> 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541905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370961A3-2770-6B4B-96BA-AF5EDD199456}"/>
              </a:ext>
            </a:extLst>
          </p:cNvPr>
          <p:cNvSpPr>
            <a:spLocks/>
          </p:cNvSpPr>
          <p:nvPr/>
        </p:nvSpPr>
        <p:spPr bwMode="auto">
          <a:xfrm>
            <a:off x="1559495" y="40466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Функции с указанием типов данных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1E1C475-5080-C042-8F07-B8539409CB9D}"/>
              </a:ext>
            </a:extLst>
          </p:cNvPr>
          <p:cNvSpPr/>
          <p:nvPr/>
        </p:nvSpPr>
        <p:spPr bwMode="auto">
          <a:xfrm>
            <a:off x="468085" y="1136804"/>
            <a:ext cx="10327341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def sum(a: List[int]) -&gt; int:</a:t>
            </a:r>
          </a:p>
          <a:p>
            <a:r>
              <a:rPr lang="en-US" sz="3200" dirty="0"/>
              <a:t>	total = 0</a:t>
            </a:r>
          </a:p>
          <a:p>
            <a:r>
              <a:rPr lang="en-US" sz="3200" dirty="0"/>
              <a:t>	for x in a:</a:t>
            </a:r>
          </a:p>
          <a:p>
            <a:r>
              <a:rPr lang="en-US" sz="3200" dirty="0"/>
              <a:t>		total += x</a:t>
            </a:r>
          </a:p>
          <a:p>
            <a:r>
              <a:rPr lang="en-US" sz="3200" dirty="0"/>
              <a:t>	return total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На вход </a:t>
            </a:r>
            <a:r>
              <a:rPr lang="en-US" sz="3200" dirty="0"/>
              <a:t>NAME : TYPE</a:t>
            </a:r>
            <a:r>
              <a:rPr lang="ru-RU" sz="3200" dirty="0"/>
              <a:t>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/>
              <a:t>Возвращает </a:t>
            </a:r>
            <a:r>
              <a:rPr lang="en-US" sz="3200" dirty="0"/>
              <a:t>-&gt; TYPE</a:t>
            </a:r>
            <a:r>
              <a:rPr lang="ru-RU" sz="3200" dirty="0"/>
              <a:t> 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List[int] - generic </a:t>
            </a:r>
            <a:r>
              <a:rPr lang="ru-RU" sz="3200" dirty="0"/>
              <a:t>указывается в квадратных скобках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317285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5DA651EB-A398-D446-B7A9-CE1F48FA3CA2}"/>
              </a:ext>
            </a:extLst>
          </p:cNvPr>
          <p:cNvSpPr>
            <a:spLocks/>
          </p:cNvSpPr>
          <p:nvPr/>
        </p:nvSpPr>
        <p:spPr bwMode="auto">
          <a:xfrm>
            <a:off x="1559495" y="40466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Декораторы</a:t>
            </a:r>
          </a:p>
        </p:txBody>
      </p:sp>
      <p:pic>
        <p:nvPicPr>
          <p:cNvPr id="1026" name="Picture 2" descr="Python: все о декораторах | Lambda">
            <a:extLst>
              <a:ext uri="{FF2B5EF4-FFF2-40B4-BE49-F238E27FC236}">
                <a16:creationId xmlns:a16="http://schemas.microsoft.com/office/drawing/2014/main" id="{CB700DE0-A944-2B45-BE94-F904CB9609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4378" y="2406026"/>
            <a:ext cx="5725258" cy="4047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4DDBDE-7527-0F47-982C-86C3695B9E43}"/>
              </a:ext>
            </a:extLst>
          </p:cNvPr>
          <p:cNvSpPr/>
          <p:nvPr/>
        </p:nvSpPr>
        <p:spPr>
          <a:xfrm>
            <a:off x="262145" y="1359758"/>
            <a:ext cx="1166770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2400" dirty="0">
                <a:latin typeface="SFMono-Regular"/>
              </a:rPr>
              <a:t>def timer(function):</a:t>
            </a:r>
            <a:endParaRPr lang="en-US" sz="2400" dirty="0"/>
          </a:p>
          <a:p>
            <a:r>
              <a:rPr lang="en-US" sz="2400" dirty="0"/>
              <a:t>   </a:t>
            </a:r>
            <a:r>
              <a:rPr lang="ru-RU" sz="2400" dirty="0" err="1"/>
              <a:t>def</a:t>
            </a:r>
            <a:r>
              <a:rPr lang="ru-RU" sz="2400" dirty="0"/>
              <a:t> </a:t>
            </a:r>
            <a:r>
              <a:rPr lang="ru-RU" sz="2400" dirty="0" err="1"/>
              <a:t>new_function</a:t>
            </a:r>
            <a:r>
              <a:rPr lang="ru-RU" sz="2400" dirty="0"/>
              <a:t>():</a:t>
            </a:r>
          </a:p>
          <a:p>
            <a:r>
              <a:rPr lang="en-US" sz="2400" dirty="0"/>
              <a:t>       </a:t>
            </a:r>
            <a:r>
              <a:rPr lang="ru-RU" sz="2400" dirty="0" err="1"/>
              <a:t>start_time</a:t>
            </a:r>
            <a:r>
              <a:rPr lang="ru-RU" sz="2400" dirty="0"/>
              <a:t> = </a:t>
            </a:r>
            <a:r>
              <a:rPr lang="ru-RU" sz="2400" dirty="0" err="1"/>
              <a:t>timeit.default_timer</a:t>
            </a:r>
            <a:r>
              <a:rPr lang="ru-RU" sz="2400" dirty="0"/>
              <a:t>()</a:t>
            </a:r>
          </a:p>
          <a:p>
            <a:r>
              <a:rPr lang="en-US" sz="2400" dirty="0"/>
              <a:t>       </a:t>
            </a:r>
            <a:r>
              <a:rPr lang="ru-RU" sz="2400" dirty="0" err="1"/>
              <a:t>function</a:t>
            </a:r>
            <a:r>
              <a:rPr lang="ru-RU" sz="2400" dirty="0"/>
              <a:t>()</a:t>
            </a:r>
            <a:endParaRPr lang="en-US" sz="2400" dirty="0"/>
          </a:p>
          <a:p>
            <a:r>
              <a:rPr lang="en-US" sz="2400" dirty="0"/>
              <a:t>       </a:t>
            </a:r>
            <a:r>
              <a:rPr lang="ru-RU" sz="2400" dirty="0" err="1"/>
              <a:t>elapsed</a:t>
            </a:r>
            <a:r>
              <a:rPr lang="ru-RU" sz="2400" dirty="0"/>
              <a:t> = </a:t>
            </a:r>
            <a:r>
              <a:rPr lang="ru-RU" sz="2400" dirty="0" err="1"/>
              <a:t>timeit.default_timer</a:t>
            </a:r>
            <a:r>
              <a:rPr lang="ru-RU" sz="2400" dirty="0"/>
              <a:t>() - </a:t>
            </a:r>
            <a:r>
              <a:rPr lang="ru-RU" sz="2400" dirty="0" err="1"/>
              <a:t>start_time</a:t>
            </a:r>
            <a:endParaRPr lang="en-US" sz="2400" dirty="0"/>
          </a:p>
          <a:p>
            <a:r>
              <a:rPr lang="en-US" sz="2400" dirty="0"/>
              <a:t>       print(‘</a:t>
            </a:r>
            <a:r>
              <a:rPr lang="ru-RU" sz="2400" dirty="0"/>
              <a:t>Функция отработала за</a:t>
            </a:r>
            <a:r>
              <a:rPr lang="en-US" sz="2400" dirty="0"/>
              <a:t>{</a:t>
            </a:r>
            <a:r>
              <a:rPr lang="ru-RU" sz="2400" dirty="0" err="1"/>
              <a:t>elapsed</a:t>
            </a:r>
            <a:r>
              <a:rPr lang="en-US" sz="2400" dirty="0"/>
              <a:t>}</a:t>
            </a:r>
            <a:r>
              <a:rPr lang="ru-RU" sz="2400" dirty="0"/>
              <a:t>)</a:t>
            </a:r>
          </a:p>
          <a:p>
            <a:r>
              <a:rPr lang="ru-RU" sz="2400" dirty="0" err="1"/>
              <a:t>return</a:t>
            </a:r>
            <a:r>
              <a:rPr lang="ru-RU" sz="2400" dirty="0"/>
              <a:t> </a:t>
            </a:r>
            <a:r>
              <a:rPr lang="ru-RU" sz="2400" dirty="0" err="1"/>
              <a:t>new_function</a:t>
            </a:r>
            <a:r>
              <a:rPr lang="ru-RU" sz="2400" dirty="0"/>
              <a:t>()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A175BE-9A02-AA4C-B83A-22BFE9F3D9EB}"/>
              </a:ext>
            </a:extLst>
          </p:cNvPr>
          <p:cNvSpPr/>
          <p:nvPr/>
        </p:nvSpPr>
        <p:spPr>
          <a:xfrm>
            <a:off x="401053" y="4570745"/>
            <a:ext cx="3403176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t"/>
            <a:r>
              <a:rPr lang="en" sz="2800" dirty="0">
                <a:latin typeface="SFMono-Regular"/>
              </a:rPr>
              <a:t>@timer</a:t>
            </a:r>
          </a:p>
          <a:p>
            <a:pPr fontAlgn="t"/>
            <a:r>
              <a:rPr lang="en" sz="2800" dirty="0">
                <a:latin typeface="SFMono-Regular"/>
              </a:rPr>
              <a:t>def </a:t>
            </a:r>
            <a:r>
              <a:rPr lang="en" sz="2800" dirty="0" err="1">
                <a:latin typeface="SFMono-Regular"/>
              </a:rPr>
              <a:t>print_smth</a:t>
            </a:r>
            <a:r>
              <a:rPr lang="en" sz="2800" dirty="0">
                <a:latin typeface="SFMono-Regular"/>
              </a:rPr>
              <a:t>(</a:t>
            </a:r>
            <a:r>
              <a:rPr lang="en" sz="2800" dirty="0" err="1">
                <a:latin typeface="SFMono-Regular"/>
              </a:rPr>
              <a:t>smth</a:t>
            </a:r>
            <a:r>
              <a:rPr lang="en" sz="2800" dirty="0">
                <a:latin typeface="SFMono-Regular"/>
              </a:rPr>
              <a:t>):</a:t>
            </a:r>
          </a:p>
          <a:p>
            <a:pPr fontAlgn="t"/>
            <a:r>
              <a:rPr lang="en" sz="2800" dirty="0">
                <a:latin typeface="SFMono-Regular"/>
              </a:rPr>
              <a:t>    print(</a:t>
            </a:r>
            <a:r>
              <a:rPr lang="en" sz="2800" dirty="0" err="1">
                <a:latin typeface="SFMono-Regular"/>
              </a:rPr>
              <a:t>smth</a:t>
            </a:r>
            <a:r>
              <a:rPr lang="en" sz="2800" dirty="0">
                <a:latin typeface="SFMono-Regular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50338448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597A7B9E-CE3C-3342-90F0-633DD11A12C3}"/>
              </a:ext>
            </a:extLst>
          </p:cNvPr>
          <p:cNvSpPr>
            <a:spLocks/>
          </p:cNvSpPr>
          <p:nvPr/>
        </p:nvSpPr>
        <p:spPr bwMode="auto">
          <a:xfrm>
            <a:off x="1559495" y="40466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Ветвление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9936131-C4A9-984C-A86E-856DACD461CC}"/>
              </a:ext>
            </a:extLst>
          </p:cNvPr>
          <p:cNvSpPr/>
          <p:nvPr/>
        </p:nvSpPr>
        <p:spPr bwMode="auto">
          <a:xfrm>
            <a:off x="258377" y="1022236"/>
            <a:ext cx="12192001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x = 1</a:t>
            </a:r>
          </a:p>
          <a:p>
            <a:r>
              <a:rPr lang="en-US" sz="3200" dirty="0"/>
              <a:t>If </a:t>
            </a:r>
            <a:r>
              <a:rPr lang="en-US" sz="3200" dirty="0" err="1"/>
              <a:t>isinstance</a:t>
            </a:r>
            <a:r>
              <a:rPr lang="en-US" sz="3200" dirty="0"/>
              <a:t>(x, int):</a:t>
            </a:r>
          </a:p>
          <a:p>
            <a:r>
              <a:rPr lang="en-US" sz="3200" dirty="0"/>
              <a:t>	print(‘</a:t>
            </a:r>
            <a:r>
              <a:rPr lang="ru-RU" sz="3200" dirty="0"/>
              <a:t>число</a:t>
            </a:r>
            <a:r>
              <a:rPr lang="en-US" sz="3200" dirty="0"/>
              <a:t>’)</a:t>
            </a:r>
          </a:p>
          <a:p>
            <a:r>
              <a:rPr lang="en-US" sz="3200" dirty="0" err="1"/>
              <a:t>elif</a:t>
            </a:r>
            <a:r>
              <a:rPr lang="en-US" sz="3200" dirty="0"/>
              <a:t> </a:t>
            </a:r>
            <a:r>
              <a:rPr lang="en-US" sz="3200" dirty="0" err="1"/>
              <a:t>isinstance</a:t>
            </a:r>
            <a:r>
              <a:rPr lang="en-US" sz="3200" dirty="0"/>
              <a:t>(x, str):</a:t>
            </a:r>
          </a:p>
          <a:p>
            <a:r>
              <a:rPr lang="en-US" sz="3200" dirty="0"/>
              <a:t>	print(‘</a:t>
            </a:r>
            <a:r>
              <a:rPr lang="ru-RU" sz="3200" dirty="0"/>
              <a:t>строка</a:t>
            </a:r>
            <a:r>
              <a:rPr lang="en-US" sz="3200" dirty="0"/>
              <a:t>’):</a:t>
            </a:r>
          </a:p>
          <a:p>
            <a:r>
              <a:rPr lang="en-US" sz="3200" dirty="0"/>
              <a:t>else:</a:t>
            </a:r>
          </a:p>
          <a:p>
            <a:r>
              <a:rPr lang="en-US" sz="3200" dirty="0"/>
              <a:t>	print(‘</a:t>
            </a:r>
            <a:r>
              <a:rPr lang="ru-RU" sz="3200" dirty="0"/>
              <a:t>другой тип</a:t>
            </a:r>
            <a:r>
              <a:rPr lang="en-US" sz="3200" dirty="0"/>
              <a:t>’)</a:t>
            </a:r>
          </a:p>
          <a:p>
            <a:endParaRPr lang="ru-RU" sz="3200" dirty="0"/>
          </a:p>
          <a:p>
            <a:r>
              <a:rPr lang="ru-RU" sz="3200" dirty="0"/>
              <a:t>Вариант в  одну строку</a:t>
            </a:r>
            <a:endParaRPr lang="en-US" sz="3200" dirty="0"/>
          </a:p>
          <a:p>
            <a:r>
              <a:rPr lang="en" sz="3200" dirty="0" err="1"/>
              <a:t>condition_if_true</a:t>
            </a:r>
            <a:r>
              <a:rPr lang="en" sz="3200" dirty="0"/>
              <a:t> if condition else </a:t>
            </a:r>
            <a:r>
              <a:rPr lang="en" sz="3200" dirty="0" err="1"/>
              <a:t>condition_if_false</a:t>
            </a:r>
            <a:endParaRPr lang="en-US" sz="3200" dirty="0"/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780655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653BDF33-03AD-7145-AD50-303298A26F9A}"/>
              </a:ext>
            </a:extLst>
          </p:cNvPr>
          <p:cNvSpPr>
            <a:spLocks/>
          </p:cNvSpPr>
          <p:nvPr/>
        </p:nvSpPr>
        <p:spPr bwMode="auto">
          <a:xfrm>
            <a:off x="773434" y="32085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Циклы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9B0066-2FCE-D144-A74C-CBE2ED04CDA6}"/>
              </a:ext>
            </a:extLst>
          </p:cNvPr>
          <p:cNvSpPr/>
          <p:nvPr/>
        </p:nvSpPr>
        <p:spPr bwMode="auto">
          <a:xfrm>
            <a:off x="-1" y="1027946"/>
            <a:ext cx="4898535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  for el in [1,2,3]:</a:t>
            </a:r>
          </a:p>
          <a:p>
            <a:pPr lvl="1"/>
            <a:r>
              <a:rPr lang="en-US" sz="3200" dirty="0"/>
              <a:t> print(el)</a:t>
            </a:r>
            <a:endParaRPr lang="ru-RU" sz="3200" dirty="0"/>
          </a:p>
          <a:p>
            <a:pPr lvl="1"/>
            <a:endParaRPr lang="ru-RU" sz="3200" dirty="0"/>
          </a:p>
          <a:p>
            <a:pPr lvl="1"/>
            <a:endParaRPr lang="ru-RU" sz="3200" dirty="0"/>
          </a:p>
          <a:p>
            <a:pPr lvl="1"/>
            <a:r>
              <a:rPr lang="ru-RU" sz="3200" dirty="0"/>
              <a:t>с</a:t>
            </a:r>
            <a:r>
              <a:rPr lang="en-US" sz="3200" dirty="0" err="1"/>
              <a:t>ontinue</a:t>
            </a:r>
            <a:r>
              <a:rPr lang="ru-RU" sz="3200" dirty="0"/>
              <a:t> - </a:t>
            </a:r>
            <a:r>
              <a:rPr lang="en-US" sz="3200" dirty="0"/>
              <a:t> </a:t>
            </a:r>
            <a:r>
              <a:rPr lang="ru-RU" sz="3200" dirty="0"/>
              <a:t>переход на следующий </a:t>
            </a:r>
            <a:r>
              <a:rPr lang="ru-RU" sz="3200" dirty="0" err="1"/>
              <a:t>елемент</a:t>
            </a:r>
            <a:r>
              <a:rPr lang="en-US" sz="3200" dirty="0"/>
              <a:t> </a:t>
            </a:r>
            <a:endParaRPr lang="ru-RU" sz="3200" dirty="0"/>
          </a:p>
          <a:p>
            <a:pPr lvl="1"/>
            <a:endParaRPr lang="ru-RU" sz="3200" dirty="0"/>
          </a:p>
          <a:p>
            <a:pPr lvl="1"/>
            <a:r>
              <a:rPr lang="en-US" sz="3200" dirty="0"/>
              <a:t>break – </a:t>
            </a:r>
            <a:r>
              <a:rPr lang="ru-RU" sz="3200" dirty="0"/>
              <a:t>выход из цикла</a:t>
            </a: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50ABCE-7F0E-9840-BD25-6BB0C95CB0A9}"/>
              </a:ext>
            </a:extLst>
          </p:cNvPr>
          <p:cNvSpPr/>
          <p:nvPr/>
        </p:nvSpPr>
        <p:spPr bwMode="auto">
          <a:xfrm>
            <a:off x="6609347" y="856357"/>
            <a:ext cx="5181601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sz="3200" dirty="0" err="1"/>
              <a:t>i</a:t>
            </a:r>
            <a:r>
              <a:rPr lang="en" sz="3200" dirty="0"/>
              <a:t> = 0</a:t>
            </a:r>
          </a:p>
          <a:p>
            <a:r>
              <a:rPr lang="en" sz="3200" dirty="0"/>
              <a:t>while </a:t>
            </a:r>
            <a:r>
              <a:rPr lang="en" sz="3200" dirty="0" err="1"/>
              <a:t>i</a:t>
            </a:r>
            <a:r>
              <a:rPr lang="en" sz="3200" dirty="0"/>
              <a:t> &lt; 10:</a:t>
            </a:r>
          </a:p>
          <a:p>
            <a:r>
              <a:rPr lang="en" sz="3200" dirty="0"/>
              <a:t>	print(</a:t>
            </a:r>
            <a:r>
              <a:rPr lang="en" sz="3200" dirty="0" err="1"/>
              <a:t>i</a:t>
            </a:r>
            <a:r>
              <a:rPr lang="en" sz="3200" dirty="0"/>
              <a:t>)</a:t>
            </a:r>
          </a:p>
          <a:p>
            <a:r>
              <a:rPr lang="en" sz="3200" dirty="0"/>
              <a:t>	</a:t>
            </a:r>
            <a:r>
              <a:rPr lang="en" sz="3200" dirty="0" err="1"/>
              <a:t>i</a:t>
            </a:r>
            <a:r>
              <a:rPr lang="en" sz="3200" dirty="0"/>
              <a:t> = </a:t>
            </a:r>
            <a:r>
              <a:rPr lang="en" sz="3200" dirty="0" err="1"/>
              <a:t>i</a:t>
            </a:r>
            <a:r>
              <a:rPr lang="en" sz="3200" dirty="0"/>
              <a:t> + 1</a:t>
            </a:r>
          </a:p>
          <a:p>
            <a:endParaRPr lang="en-US" sz="3200" dirty="0"/>
          </a:p>
          <a:p>
            <a:r>
              <a:rPr lang="ru-RU" sz="3200" dirty="0"/>
              <a:t>Вечный цикл</a:t>
            </a:r>
            <a:endParaRPr lang="en-US" sz="3200" dirty="0"/>
          </a:p>
          <a:p>
            <a:r>
              <a:rPr lang="en-US" sz="3200" dirty="0"/>
              <a:t> while True:</a:t>
            </a:r>
          </a:p>
          <a:p>
            <a:pPr lvl="1"/>
            <a:r>
              <a:rPr lang="en-US" sz="3200" dirty="0"/>
              <a:t> print(‘hey’)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7513107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653BDF33-03AD-7145-AD50-303298A26F9A}"/>
              </a:ext>
            </a:extLst>
          </p:cNvPr>
          <p:cNvSpPr>
            <a:spLocks/>
          </p:cNvSpPr>
          <p:nvPr/>
        </p:nvSpPr>
        <p:spPr bwMode="auto">
          <a:xfrm>
            <a:off x="773434" y="32085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Генераторы списков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19B0066-2FCE-D144-A74C-CBE2ED04CDA6}"/>
              </a:ext>
            </a:extLst>
          </p:cNvPr>
          <p:cNvSpPr/>
          <p:nvPr/>
        </p:nvSpPr>
        <p:spPr bwMode="auto">
          <a:xfrm>
            <a:off x="-1" y="1027946"/>
            <a:ext cx="879107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= []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for el in [1,2,3]:</a:t>
            </a:r>
          </a:p>
          <a:p>
            <a:pPr lvl="1"/>
            <a:r>
              <a:rPr lang="en-US" sz="3200" dirty="0"/>
              <a:t>    </a:t>
            </a:r>
            <a:r>
              <a:rPr lang="en-US" sz="3200" dirty="0" err="1"/>
              <a:t>a.append</a:t>
            </a:r>
            <a:r>
              <a:rPr lang="en-US" sz="3200" dirty="0"/>
              <a:t>(el)</a:t>
            </a:r>
          </a:p>
          <a:p>
            <a:pPr lvl="1"/>
            <a:endParaRPr lang="en-US" sz="3200" dirty="0"/>
          </a:p>
          <a:p>
            <a:pPr lvl="1"/>
            <a:r>
              <a:rPr lang="en-US" sz="3200" dirty="0"/>
              <a:t>a = [x for x in [1,2,3]]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 = [x for x in [1,2,3]</a:t>
            </a:r>
            <a:r>
              <a:rPr lang="ru-RU" sz="3200" dirty="0"/>
              <a:t> </a:t>
            </a:r>
            <a:r>
              <a:rPr lang="en-US" sz="3200" dirty="0"/>
              <a:t>if x &gt; 1]</a:t>
            </a:r>
          </a:p>
        </p:txBody>
      </p:sp>
    </p:spTree>
    <p:extLst>
      <p:ext uri="{BB962C8B-B14F-4D97-AF65-F5344CB8AC3E}">
        <p14:creationId xmlns:p14="http://schemas.microsoft.com/office/powerpoint/2010/main" val="424324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7F5552F8-E66B-6C44-895A-B4AA0A12F033}"/>
              </a:ext>
            </a:extLst>
          </p:cNvPr>
          <p:cNvSpPr>
            <a:spLocks/>
          </p:cNvSpPr>
          <p:nvPr/>
        </p:nvSpPr>
        <p:spPr bwMode="auto">
          <a:xfrm>
            <a:off x="1559495" y="40466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Чтение файлов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EBA92BF-D23E-7C42-8709-079A7E44B468}"/>
              </a:ext>
            </a:extLst>
          </p:cNvPr>
          <p:cNvSpPr/>
          <p:nvPr/>
        </p:nvSpPr>
        <p:spPr bwMode="auto">
          <a:xfrm>
            <a:off x="-1" y="1027946"/>
            <a:ext cx="8742948" cy="57554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Классический вариант</a:t>
            </a:r>
          </a:p>
          <a:p>
            <a:r>
              <a:rPr lang="ru-RU" sz="2800" dirty="0"/>
              <a:t>	</a:t>
            </a:r>
            <a:r>
              <a:rPr lang="en" sz="2800" dirty="0"/>
              <a:t>f = open('</a:t>
            </a:r>
            <a:r>
              <a:rPr lang="en" sz="2800" dirty="0" err="1"/>
              <a:t>photo.jpg</a:t>
            </a:r>
            <a:r>
              <a:rPr lang="en" sz="2800" dirty="0"/>
              <a:t>', 'r’)</a:t>
            </a:r>
          </a:p>
          <a:p>
            <a:r>
              <a:rPr lang="ru-RU" sz="2800" dirty="0"/>
              <a:t>	</a:t>
            </a:r>
            <a:r>
              <a:rPr lang="en" sz="2800" dirty="0" err="1"/>
              <a:t>jpgdata</a:t>
            </a:r>
            <a:r>
              <a:rPr lang="en" sz="2800" dirty="0"/>
              <a:t> = </a:t>
            </a:r>
            <a:r>
              <a:rPr lang="en" sz="2800" dirty="0" err="1"/>
              <a:t>f.read</a:t>
            </a:r>
            <a:r>
              <a:rPr lang="en" sz="2800" dirty="0"/>
              <a:t>()</a:t>
            </a:r>
          </a:p>
          <a:p>
            <a:r>
              <a:rPr lang="ru-RU" sz="2800" dirty="0"/>
              <a:t>	</a:t>
            </a:r>
            <a:r>
              <a:rPr lang="en" sz="2800" dirty="0" err="1"/>
              <a:t>f.close</a:t>
            </a:r>
            <a:r>
              <a:rPr lang="en" sz="2800" dirty="0"/>
              <a:t>()</a:t>
            </a:r>
          </a:p>
          <a:p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800" dirty="0"/>
              <a:t>Вариант с менеджером контекста</a:t>
            </a:r>
            <a:endParaRPr lang="en-US" sz="2800" dirty="0"/>
          </a:p>
          <a:p>
            <a:r>
              <a:rPr lang="en" sz="2800" dirty="0"/>
              <a:t>with open('</a:t>
            </a:r>
            <a:r>
              <a:rPr lang="en" sz="2800" dirty="0" err="1"/>
              <a:t>photo.jpg</a:t>
            </a:r>
            <a:r>
              <a:rPr lang="en" sz="2800" dirty="0"/>
              <a:t>', 'r') as f:</a:t>
            </a:r>
          </a:p>
          <a:p>
            <a:r>
              <a:rPr lang="ru-RU" sz="2800" dirty="0"/>
              <a:t>	</a:t>
            </a:r>
            <a:r>
              <a:rPr lang="en" sz="2800" dirty="0" err="1"/>
              <a:t>jpgdata</a:t>
            </a:r>
            <a:r>
              <a:rPr lang="en" sz="2800" dirty="0"/>
              <a:t> = </a:t>
            </a:r>
            <a:r>
              <a:rPr lang="en" sz="2800" dirty="0" err="1"/>
              <a:t>f.read</a:t>
            </a:r>
            <a:r>
              <a:rPr lang="en" sz="2800" dirty="0"/>
              <a:t>()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1858651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3CFBDACD-7FE9-664B-A0AB-5A2FF89DADCA}"/>
              </a:ext>
            </a:extLst>
          </p:cNvPr>
          <p:cNvSpPr>
            <a:spLocks/>
          </p:cNvSpPr>
          <p:nvPr/>
        </p:nvSpPr>
        <p:spPr bwMode="auto">
          <a:xfrm>
            <a:off x="1559495" y="404664"/>
            <a:ext cx="9589767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Обработка исключений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C96E870-B5DF-8345-B669-DE622FF08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1985" y="908720"/>
            <a:ext cx="3416300" cy="3327400"/>
          </a:xfrm>
          <a:prstGeom prst="rect">
            <a:avLst/>
          </a:prstGeom>
          <a:effectLst>
            <a:softEdge rad="139700"/>
          </a:effec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22751BC-564E-8945-8583-D934A6C5BD7A}"/>
              </a:ext>
            </a:extLst>
          </p:cNvPr>
          <p:cNvSpPr/>
          <p:nvPr/>
        </p:nvSpPr>
        <p:spPr>
          <a:xfrm>
            <a:off x="159770" y="1239590"/>
            <a:ext cx="1225681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err="1"/>
              <a:t>f</a:t>
            </a:r>
            <a:r>
              <a:rPr lang="ru-RU" sz="2800" dirty="0"/>
              <a:t> = </a:t>
            </a:r>
            <a:r>
              <a:rPr lang="ru-RU" sz="2800" dirty="0" err="1"/>
              <a:t>open</a:t>
            </a:r>
            <a:r>
              <a:rPr lang="ru-RU" sz="2800" dirty="0"/>
              <a:t>(‘</a:t>
            </a:r>
            <a:r>
              <a:rPr lang="ru-RU" sz="2800" dirty="0" err="1"/>
              <a:t>foo</a:t>
            </a:r>
            <a:r>
              <a:rPr lang="ru-RU" sz="2800" dirty="0"/>
              <a:t>’,’</a:t>
            </a:r>
            <a:r>
              <a:rPr lang="ru-RU" sz="2800" dirty="0" err="1"/>
              <a:t>r</a:t>
            </a:r>
            <a:r>
              <a:rPr lang="ru-RU" sz="2800" dirty="0"/>
              <a:t>’)</a:t>
            </a:r>
          </a:p>
          <a:p>
            <a:r>
              <a:rPr lang="ru-RU" sz="2800" dirty="0" err="1"/>
              <a:t>try</a:t>
            </a:r>
            <a:r>
              <a:rPr lang="ru-RU" sz="2800" dirty="0"/>
              <a:t>:</a:t>
            </a:r>
          </a:p>
          <a:p>
            <a:r>
              <a:rPr lang="ru-RU" sz="2800" dirty="0"/>
              <a:t>    # Выполнить некоторые </a:t>
            </a:r>
            <a:r>
              <a:rPr lang="ru-RU" sz="2800" dirty="0" err="1"/>
              <a:t>действия</a:t>
            </a:r>
            <a:endParaRPr lang="ru-RU" sz="2800" dirty="0"/>
          </a:p>
          <a:p>
            <a:r>
              <a:rPr lang="en-US" sz="2800" dirty="0"/>
              <a:t>e</a:t>
            </a:r>
            <a:r>
              <a:rPr lang="ru-RU" sz="2800" dirty="0" err="1"/>
              <a:t>xcept</a:t>
            </a:r>
            <a:r>
              <a:rPr lang="en-US" sz="2800" dirty="0"/>
              <a:t> </a:t>
            </a:r>
            <a:r>
              <a:rPr lang="ru-RU" sz="2800" dirty="0"/>
              <a:t> :</a:t>
            </a:r>
          </a:p>
          <a:p>
            <a:r>
              <a:rPr lang="ru-RU" sz="2800" dirty="0"/>
              <a:t>    # Выполнить некоторые </a:t>
            </a:r>
            <a:r>
              <a:rPr lang="ru-RU" sz="2800" dirty="0" err="1"/>
              <a:t>действия</a:t>
            </a:r>
            <a:r>
              <a:rPr lang="ru-RU" sz="2800" dirty="0"/>
              <a:t> в случае исключения</a:t>
            </a:r>
          </a:p>
          <a:p>
            <a:r>
              <a:rPr lang="ru-RU" sz="2800" dirty="0" err="1"/>
              <a:t>else</a:t>
            </a:r>
            <a:r>
              <a:rPr lang="ru-RU" sz="2800" dirty="0"/>
              <a:t>:</a:t>
            </a:r>
          </a:p>
          <a:p>
            <a:r>
              <a:rPr lang="ru-RU" sz="2800" dirty="0"/>
              <a:t>    # Выполнить некоторые </a:t>
            </a:r>
            <a:r>
              <a:rPr lang="ru-RU" sz="2800" dirty="0" err="1"/>
              <a:t>действия</a:t>
            </a:r>
            <a:r>
              <a:rPr lang="ru-RU" sz="2800" dirty="0"/>
              <a:t> в случае если все прошло без ошибок</a:t>
            </a:r>
          </a:p>
          <a:p>
            <a:r>
              <a:rPr lang="ru-RU" sz="2800" dirty="0" err="1"/>
              <a:t>finally</a:t>
            </a:r>
            <a:r>
              <a:rPr lang="ru-RU" sz="2800" dirty="0"/>
              <a:t>:</a:t>
            </a:r>
          </a:p>
          <a:p>
            <a:r>
              <a:rPr lang="ru-RU" sz="2800" dirty="0"/>
              <a:t>    </a:t>
            </a:r>
            <a:r>
              <a:rPr lang="ru-RU" sz="2800" dirty="0" err="1"/>
              <a:t>f.close</a:t>
            </a:r>
            <a:r>
              <a:rPr lang="ru-RU" sz="2800" dirty="0"/>
              <a:t>()</a:t>
            </a:r>
          </a:p>
          <a:p>
            <a:r>
              <a:rPr lang="ru-RU" sz="2800" dirty="0"/>
              <a:t>    # </a:t>
            </a:r>
            <a:r>
              <a:rPr lang="ru-RU" sz="2800" dirty="0" err="1"/>
              <a:t>Файл</a:t>
            </a:r>
            <a:r>
              <a:rPr lang="ru-RU" sz="2800" dirty="0"/>
              <a:t> будет закрыт, независимо от того, что </a:t>
            </a:r>
            <a:r>
              <a:rPr lang="ru-RU" sz="2800" dirty="0" err="1"/>
              <a:t>произойдет</a:t>
            </a:r>
            <a:endParaRPr lang="ru-RU" sz="2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9EB77DE-229A-C64F-AB7A-E97AFFDEFD0C}"/>
              </a:ext>
            </a:extLst>
          </p:cNvPr>
          <p:cNvSpPr/>
          <p:nvPr/>
        </p:nvSpPr>
        <p:spPr>
          <a:xfrm>
            <a:off x="159770" y="6268670"/>
            <a:ext cx="1309035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err="1"/>
              <a:t>https</a:t>
            </a:r>
            <a:r>
              <a:rPr lang="ru-RU" dirty="0"/>
              <a:t>://</a:t>
            </a:r>
            <a:r>
              <a:rPr lang="ru-RU" dirty="0" err="1"/>
              <a:t>pythonworld.ru</a:t>
            </a:r>
            <a:r>
              <a:rPr lang="ru-RU" dirty="0"/>
              <a:t>/</a:t>
            </a:r>
            <a:r>
              <a:rPr lang="ru-RU" dirty="0" err="1"/>
              <a:t>tipy-dannyx-v-python</a:t>
            </a:r>
            <a:r>
              <a:rPr lang="ru-RU" dirty="0"/>
              <a:t>/isklyucheniya-v-python-konstrukciya-try-except-dlya-obrabotki-isklyuchenij.html</a:t>
            </a:r>
          </a:p>
        </p:txBody>
      </p:sp>
    </p:spTree>
    <p:extLst>
      <p:ext uri="{BB962C8B-B14F-4D97-AF65-F5344CB8AC3E}">
        <p14:creationId xmlns:p14="http://schemas.microsoft.com/office/powerpoint/2010/main" val="2660899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object 3"/>
          <p:cNvSpPr/>
          <p:nvPr/>
        </p:nvSpPr>
        <p:spPr bwMode="auto">
          <a:xfrm>
            <a:off x="4684989" y="3748836"/>
            <a:ext cx="5395146" cy="2322846"/>
          </a:xfrm>
          <a:prstGeom prst="rect">
            <a:avLst/>
          </a:prstGeom>
          <a:blipFill>
            <a:blip r:embed="rId3"/>
            <a:stretch/>
          </a:blip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" name="Заголовок 4">
            <a:extLst>
              <a:ext uri="{FF2B5EF4-FFF2-40B4-BE49-F238E27FC236}">
                <a16:creationId xmlns:a16="http://schemas.microsoft.com/office/drawing/2014/main" id="{2130C00F-811F-7B40-B9D8-7BC8C08F7735}"/>
              </a:ext>
            </a:extLst>
          </p:cNvPr>
          <p:cNvSpPr>
            <a:spLocks/>
          </p:cNvSpPr>
          <p:nvPr/>
        </p:nvSpPr>
        <p:spPr bwMode="auto">
          <a:xfrm>
            <a:off x="1559496" y="404664"/>
            <a:ext cx="7992888" cy="504056"/>
          </a:xfrm>
          <a:prstGeom prst="rect">
            <a:avLst/>
          </a:prstGeom>
        </p:spPr>
        <p:txBody>
          <a:bodyPr vert="horz" lIns="0" tIns="0" rIns="0" bIns="0" anchor="t" anchorCtr="0"/>
          <a:lstStyle>
            <a:lvl1pPr>
              <a:defRPr sz="6000" b="0" i="0">
                <a:latin typeface="SB Sans Display Light"/>
                <a:ea typeface="+mj-ea"/>
                <a:cs typeface="SB Sans Display Light"/>
              </a:defRPr>
            </a:lvl1pPr>
          </a:lstStyle>
          <a:p>
            <a:pPr algn="ctr">
              <a:defRPr/>
            </a:pPr>
            <a:r>
              <a:rPr lang="ru-RU" sz="4000" b="1" dirty="0">
                <a:solidFill>
                  <a:srgbClr val="333F48"/>
                </a:solidFill>
                <a:latin typeface="SB Sans Display Semibold"/>
                <a:cs typeface="SB Sans Display Semibold"/>
              </a:rPr>
              <a:t>Виртуальное окружение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71996BB-782B-3F47-919D-5B552CA6040E}"/>
              </a:ext>
            </a:extLst>
          </p:cNvPr>
          <p:cNvSpPr/>
          <p:nvPr/>
        </p:nvSpPr>
        <p:spPr bwMode="auto">
          <a:xfrm>
            <a:off x="174129" y="944136"/>
            <a:ext cx="1190557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Для </a:t>
            </a:r>
            <a:r>
              <a:rPr lang="ru-RU" sz="3200" dirty="0" err="1"/>
              <a:t>избежания</a:t>
            </a:r>
            <a:r>
              <a:rPr lang="ru-RU" sz="3200" dirty="0"/>
              <a:t> конфликтов версий библиотек и интерпретаторов рекомендуется использовать виртуальное окружение под каждый проект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pip install </a:t>
            </a:r>
            <a:r>
              <a:rPr lang="en" sz="3200" dirty="0" err="1">
                <a:latin typeface="Helvetica Neue" panose="02000503000000020004" pitchFamily="2" charset="0"/>
              </a:rPr>
              <a:t>virtualenv</a:t>
            </a: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python -m </a:t>
            </a:r>
            <a:r>
              <a:rPr lang="en-US" sz="3200" dirty="0" err="1"/>
              <a:t>venv</a:t>
            </a:r>
            <a:r>
              <a:rPr lang="en-US" sz="3200" dirty="0"/>
              <a:t> env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source env/bin/activate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01656203"/>
      </p:ext>
    </p:extLst>
  </p:cSld>
  <p:clrMapOvr>
    <a:masterClrMapping/>
  </p:clrMapOvr>
</p:sld>
</file>

<file path=ppt/theme/theme1.xml><?xml version="1.0" encoding="utf-8"?>
<a:theme xmlns:a="http://schemas.openxmlformats.org/drawingml/2006/main" name="1_СБ">
  <a:themeElements>
    <a:clrScheme name="Другая 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EB041"/>
      </a:accent1>
      <a:accent2>
        <a:srgbClr val="ED6325"/>
      </a:accent2>
      <a:accent3>
        <a:srgbClr val="6A5AB8"/>
      </a:accent3>
      <a:accent4>
        <a:srgbClr val="7E7F7E"/>
      </a:accent4>
      <a:accent5>
        <a:srgbClr val="BEBFBE"/>
      </a:accent5>
      <a:accent6>
        <a:srgbClr val="EDAC3D"/>
      </a:accent6>
      <a:hlink>
        <a:srgbClr val="2BA630"/>
      </a:hlink>
      <a:folHlink>
        <a:srgbClr val="919191"/>
      </a:folHlink>
    </a:clrScheme>
    <a:fontScheme name="Другая 4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-СБ-16-9 (2)" id="{1220A763-8272-4E38-86CC-D9240CCE7034}" vid="{9D22794E-62DE-40C1-B547-B2A3D45EAF2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17708</TotalTime>
  <Words>1629</Words>
  <Application>Microsoft Macintosh PowerPoint</Application>
  <PresentationFormat>Широкоэкранный</PresentationFormat>
  <Paragraphs>450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40" baseType="lpstr">
      <vt:lpstr>Arial</vt:lpstr>
      <vt:lpstr>Calibri</vt:lpstr>
      <vt:lpstr>Calibri Light</vt:lpstr>
      <vt:lpstr>Helvetica Neue</vt:lpstr>
      <vt:lpstr>SB Sans Display Light</vt:lpstr>
      <vt:lpstr>SB Sans Display Semibold</vt:lpstr>
      <vt:lpstr>SB Serif Text Semibold</vt:lpstr>
      <vt:lpstr>SBSansDisplay-Light</vt:lpstr>
      <vt:lpstr>SFMono-Regular</vt:lpstr>
      <vt:lpstr>Wingdings</vt:lpstr>
      <vt:lpstr>1_СБ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Foresight</dc:title>
  <dc:creator>Microsoft Office User</dc:creator>
  <cp:lastModifiedBy>ALEXEY LEVCHENKO</cp:lastModifiedBy>
  <cp:revision>1152</cp:revision>
  <cp:lastPrinted>2021-03-23T20:46:36Z</cp:lastPrinted>
  <dcterms:created xsi:type="dcterms:W3CDTF">2020-01-19T17:18:57Z</dcterms:created>
  <dcterms:modified xsi:type="dcterms:W3CDTF">2024-08-26T12:15:03Z</dcterms:modified>
</cp:coreProperties>
</file>