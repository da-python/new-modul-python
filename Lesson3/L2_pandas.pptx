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6"/>
  </p:notesMasterIdLst>
  <p:sldIdLst>
    <p:sldId id="256" r:id="rId2"/>
    <p:sldId id="295" r:id="rId3"/>
    <p:sldId id="296" r:id="rId4"/>
    <p:sldId id="305" r:id="rId5"/>
    <p:sldId id="307" r:id="rId6"/>
    <p:sldId id="303" r:id="rId7"/>
    <p:sldId id="297" r:id="rId8"/>
    <p:sldId id="308" r:id="rId9"/>
    <p:sldId id="309" r:id="rId10"/>
    <p:sldId id="311" r:id="rId11"/>
    <p:sldId id="310" r:id="rId12"/>
    <p:sldId id="312" r:id="rId13"/>
    <p:sldId id="313" r:id="rId14"/>
    <p:sldId id="314" r:id="rId15"/>
    <p:sldId id="315" r:id="rId16"/>
    <p:sldId id="316" r:id="rId17"/>
    <p:sldId id="317" r:id="rId18"/>
    <p:sldId id="318" r:id="rId19"/>
    <p:sldId id="319" r:id="rId20"/>
    <p:sldId id="320" r:id="rId21"/>
    <p:sldId id="321" r:id="rId22"/>
    <p:sldId id="322" r:id="rId23"/>
    <p:sldId id="323" r:id="rId24"/>
    <p:sldId id="324" r:id="rId2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89CA"/>
    <a:srgbClr val="60BF97"/>
    <a:srgbClr val="135C6E"/>
    <a:srgbClr val="1EAECF"/>
    <a:srgbClr val="2BA630"/>
    <a:srgbClr val="33B4BD"/>
    <a:srgbClr val="23B0CA"/>
    <a:srgbClr val="DFDF2E"/>
    <a:srgbClr val="96CD6A"/>
    <a:srgbClr val="CAD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903" autoAdjust="0"/>
    <p:restoredTop sz="86531" autoAdjust="0"/>
  </p:normalViewPr>
  <p:slideViewPr>
    <p:cSldViewPr snapToGrid="0" snapToObjects="1">
      <p:cViewPr varScale="1">
        <p:scale>
          <a:sx n="110" d="100"/>
          <a:sy n="110" d="100"/>
        </p:scale>
        <p:origin x="1600" y="176"/>
      </p:cViewPr>
      <p:guideLst/>
    </p:cSldViewPr>
  </p:slideViewPr>
  <p:outlineViewPr>
    <p:cViewPr>
      <p:scale>
        <a:sx n="60" d="100"/>
        <a:sy n="60" d="100"/>
      </p:scale>
      <p:origin x="0" y="-3048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9" d="100"/>
          <a:sy n="89" d="100"/>
        </p:scale>
        <p:origin x="3788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FA132F-730A-7F4B-A8EA-A6DF73F21D06}" type="datetimeFigureOut">
              <a:rPr lang="de-DE" smtClean="0"/>
              <a:t>02.09.24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EC1A1B-6C60-A344-A573-F42A8914F71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0502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FC240-040A-8B41-8531-5066CA0F40C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7839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FC240-040A-8B41-8531-5066CA0F40C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12177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FC240-040A-8B41-8531-5066CA0F40C9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7759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FC240-040A-8B41-8531-5066CA0F40C9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99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FC240-040A-8B41-8531-5066CA0F40C9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5830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FC240-040A-8B41-8531-5066CA0F40C9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3896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FC240-040A-8B41-8531-5066CA0F40C9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56796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FC240-040A-8B41-8531-5066CA0F40C9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99409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FC240-040A-8B41-8531-5066CA0F40C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3984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FC240-040A-8B41-8531-5066CA0F40C9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39403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FC240-040A-8B41-8531-5066CA0F40C9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70944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FC240-040A-8B41-8531-5066CA0F40C9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07763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FC240-040A-8B41-8531-5066CA0F40C9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14167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FC240-040A-8B41-8531-5066CA0F40C9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35246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FC240-040A-8B41-8531-5066CA0F40C9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35575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FC240-040A-8B41-8531-5066CA0F40C9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28302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FC240-040A-8B41-8531-5066CA0F40C9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2543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FC240-040A-8B41-8531-5066CA0F40C9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12654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FC240-040A-8B41-8531-5066CA0F40C9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13591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FC240-040A-8B41-8531-5066CA0F40C9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18376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FC240-040A-8B41-8531-5066CA0F40C9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78453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FC240-040A-8B41-8531-5066CA0F40C9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63479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FC240-040A-8B41-8531-5066CA0F40C9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8455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http://3D8AC660BCB05384D678D60BEF9C08E9.dms.sberbank.ru/3D8AC660BCB05384D678D60BEF9C08E9-AECF245F8C9B914F0C2989A94469BBEA-568CE4AC14AF8F02F3B099876E071B35/1.png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 с картинкой под градиен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9"/>
          <p:cNvSpPr>
            <a:spLocks noGrp="1"/>
          </p:cNvSpPr>
          <p:nvPr>
            <p:ph type="title" hasCustomPrompt="1"/>
          </p:nvPr>
        </p:nvSpPr>
        <p:spPr>
          <a:xfrm>
            <a:off x="587377" y="2097088"/>
            <a:ext cx="10188575" cy="1749048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6000" b="0" i="0" cap="none" baseline="0">
                <a:solidFill>
                  <a:schemeClr val="bg1"/>
                </a:solidFill>
                <a:latin typeface="Calibri Light" panose="020F0302020204030204" pitchFamily="34" charset="0"/>
                <a:ea typeface="Calibri Light" charset="0"/>
                <a:cs typeface="Calibri Light" charset="0"/>
              </a:defRPr>
            </a:lvl1pPr>
          </a:lstStyle>
          <a:p>
            <a:r>
              <a:rPr lang="ru-RU" dirty="0"/>
              <a:t>Название презентации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587376" y="4344990"/>
            <a:ext cx="7561261" cy="906463"/>
          </a:xfrm>
          <a:prstGeom prst="rect">
            <a:avLst/>
          </a:prstGeom>
        </p:spPr>
        <p:txBody>
          <a:bodyPr/>
          <a:lstStyle>
            <a:lvl1pPr>
              <a:defRPr lang="en-US" sz="3000" b="0" i="0" kern="1200" cap="none" baseline="0">
                <a:solidFill>
                  <a:schemeClr val="bg1"/>
                </a:solidFill>
                <a:latin typeface="Calibri Light" panose="020F0302020204030204" pitchFamily="34" charset="0"/>
                <a:ea typeface="Calibri" charset="0"/>
                <a:cs typeface="Calibri" charset="0"/>
              </a:defRPr>
            </a:lvl1pPr>
            <a:lvl2pPr marL="0" marR="0" indent="0" algn="l" defTabSz="91435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2pPr>
          </a:lstStyle>
          <a:p>
            <a:pPr lvl="0"/>
            <a:r>
              <a:rPr lang="ru-RU" dirty="0"/>
              <a:t>Дополнительный текст, пояснение, подзаголовок</a:t>
            </a: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39" y="4692397"/>
            <a:ext cx="12192000" cy="2131352"/>
          </a:xfrm>
          <a:prstGeom prst="rect">
            <a:avLst/>
          </a:prstGeom>
        </p:spPr>
      </p:pic>
      <p:sp>
        <p:nvSpPr>
          <p:cNvPr id="6" name="Прямоугольник 5"/>
          <p:cNvSpPr/>
          <p:nvPr userDrawn="1"/>
        </p:nvSpPr>
        <p:spPr>
          <a:xfrm>
            <a:off x="2" y="4397828"/>
            <a:ext cx="12194239" cy="1415117"/>
          </a:xfrm>
          <a:prstGeom prst="rect">
            <a:avLst/>
          </a:prstGeom>
          <a:gradFill>
            <a:gsLst>
              <a:gs pos="5000">
                <a:schemeClr val="bg1"/>
              </a:gs>
              <a:gs pos="50000">
                <a:schemeClr val="bg1">
                  <a:alpha val="48000"/>
                </a:schemeClr>
              </a:gs>
              <a:gs pos="100000">
                <a:schemeClr val="bg1">
                  <a:alpha val="3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669331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DA317C-6C77-412C-9D54-BF2E93C8DD48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4264459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bg object 16"/>
          <p:cNvSpPr/>
          <p:nvPr/>
        </p:nvSpPr>
        <p:spPr bwMode="auto">
          <a:xfrm>
            <a:off x="0" y="0"/>
            <a:ext cx="12188952" cy="6858000"/>
          </a:xfrm>
          <a:prstGeom prst="rect">
            <a:avLst/>
          </a:prstGeom>
          <a:blipFill>
            <a:blip r:embed="rId2"/>
            <a:srcRect b="217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" name="Holder 2"/>
          <p:cNvSpPr>
            <a:spLocks noGrp="1"/>
          </p:cNvSpPr>
          <p:nvPr>
            <p:ph type="title"/>
          </p:nvPr>
        </p:nvSpPr>
        <p:spPr bwMode="auto">
          <a:xfrm>
            <a:off x="685800" y="2667000"/>
            <a:ext cx="7493328" cy="1933575"/>
          </a:xfrm>
          <a:prstGeom prst="rect">
            <a:avLst/>
          </a:prstGeom>
        </p:spPr>
        <p:txBody>
          <a:bodyPr lIns="0" tIns="0" rIns="0" bIns="0"/>
          <a:lstStyle>
            <a:lvl1pPr>
              <a:defRPr sz="6600" b="0" i="0">
                <a:solidFill>
                  <a:schemeClr val="tx1"/>
                </a:solidFill>
                <a:latin typeface="SBSansDisplay-Light"/>
                <a:cs typeface="SBSansDisplay-Ligh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9/2/24</a:t>
            </a:fld>
            <a:endParaRPr lang="en-US"/>
          </a:p>
        </p:txBody>
      </p:sp>
      <p:pic>
        <p:nvPicPr>
          <p:cNvPr id="16" name="Рисунок 15" descr="http://3D8AC660BCB05384D678D60BEF9C08E9.dms.sberbank.ru/3D8AC660BCB05384D678D60BEF9C08E9-AECF245F8C9B914F0C2989A94469BBEA-568CE4AC14AF8F02F3B099876E071B35/1.png"/>
          <p:cNvPicPr>
            <a:picLocks/>
          </p:cNvPicPr>
          <p:nvPr userDrawn="1"/>
        </p:nvPicPr>
        <p:blipFill>
          <a:blip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88" cy="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09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5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6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9A2CB3F-9E6C-4531-82DF-EF260906E9D5}" type="datetimeFigureOut">
              <a:rPr lang="ru-RU"/>
              <a:t>02.09.2024</a:t>
            </a:fld>
            <a:endParaRPr lang="ru-RU"/>
          </a:p>
        </p:txBody>
      </p:sp>
      <p:sp>
        <p:nvSpPr>
          <p:cNvPr id="7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3E68939-3EB5-44F6-8D41-33285E24A685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4788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313055" y="288711"/>
            <a:ext cx="10909300" cy="399213"/>
          </a:xfrm>
          <a:prstGeom prst="rect">
            <a:avLst/>
          </a:prstGeom>
        </p:spPr>
        <p:txBody>
          <a:bodyPr vert="horz" lIns="0" tIns="46800" rIns="90000" bIns="46800" rtlCol="0" anchor="ctr">
            <a:sp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1DD0C2-955D-4A74-A02D-206C443760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4445" y="6492875"/>
            <a:ext cx="504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ru-RU"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EEAA0219-6F8F-4841-A8C1-35062D7CC4AA}" type="slidenum">
              <a:rPr lang="ru-RU" smtClean="0"/>
              <a:pPr algn="r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1756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6" r:id="rId2"/>
    <p:sldLayoutId id="2147483667" r:id="rId3"/>
    <p:sldLayoutId id="2147483670" r:id="rId4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lang="en-US" sz="2200" b="0" i="0" kern="1200" cap="none" baseline="0" dirty="0" smtClean="0">
          <a:solidFill>
            <a:schemeClr val="tx1"/>
          </a:solidFill>
          <a:latin typeface="Calibri Light"/>
          <a:ea typeface="Calibri Light" charset="0"/>
          <a:cs typeface="Calibri Light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000"/>
        </a:spcBef>
        <a:buFont typeface="Arial"/>
        <a:buNone/>
        <a:defRPr sz="2800" b="0" i="0" kern="1200">
          <a:solidFill>
            <a:schemeClr val="tx1"/>
          </a:solidFill>
          <a:latin typeface="+mn-lt"/>
          <a:ea typeface="Calibri Light" charset="0"/>
          <a:cs typeface="Calibri Light" charset="0"/>
        </a:defRPr>
      </a:lvl1pPr>
      <a:lvl2pPr marL="457189" indent="0" algn="l" defTabSz="914377" rtl="0" eaLnBrk="1" latinLnBrk="0" hangingPunct="1">
        <a:lnSpc>
          <a:spcPct val="90000"/>
        </a:lnSpc>
        <a:spcBef>
          <a:spcPts val="500"/>
        </a:spcBef>
        <a:buFont typeface="Arial"/>
        <a:buNone/>
        <a:defRPr sz="2400" b="0" i="0" kern="1200">
          <a:solidFill>
            <a:schemeClr val="tx1"/>
          </a:solidFill>
          <a:latin typeface="+mn-lt"/>
          <a:ea typeface="Calibri Light" charset="0"/>
          <a:cs typeface="Calibri Light" charset="0"/>
        </a:defRPr>
      </a:lvl2pPr>
      <a:lvl3pPr marL="914377" indent="0" algn="l" defTabSz="914377" rtl="0" eaLnBrk="1" latinLnBrk="0" hangingPunct="1">
        <a:lnSpc>
          <a:spcPct val="90000"/>
        </a:lnSpc>
        <a:spcBef>
          <a:spcPts val="500"/>
        </a:spcBef>
        <a:buFont typeface="Arial"/>
        <a:buNone/>
        <a:defRPr sz="2000" b="0" i="0" kern="1200">
          <a:solidFill>
            <a:schemeClr val="tx1"/>
          </a:solidFill>
          <a:latin typeface="+mn-lt"/>
          <a:ea typeface="Calibri Light" charset="0"/>
          <a:cs typeface="Calibri Light" charset="0"/>
        </a:defRPr>
      </a:lvl3pPr>
      <a:lvl4pPr marL="1371566" indent="0" algn="l" defTabSz="914377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b="0" i="0" kern="1200">
          <a:solidFill>
            <a:schemeClr val="tx1"/>
          </a:solidFill>
          <a:latin typeface="+mn-lt"/>
          <a:ea typeface="Calibri Light" charset="0"/>
          <a:cs typeface="Calibri Light" charset="0"/>
        </a:defRPr>
      </a:lvl4pPr>
      <a:lvl5pPr marL="1828754" indent="0" algn="l" defTabSz="914377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b="0" i="0" kern="1200">
          <a:solidFill>
            <a:schemeClr val="tx1"/>
          </a:solidFill>
          <a:latin typeface="+mn-lt"/>
          <a:ea typeface="Calibri Light" charset="0"/>
          <a:cs typeface="Calibri Light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8">
          <p15:clr>
            <a:srgbClr val="F26B43"/>
          </p15:clr>
        </p15:guide>
        <p15:guide id="2" pos="7242">
          <p15:clr>
            <a:srgbClr val="F26B43"/>
          </p15:clr>
        </p15:guide>
        <p15:guide id="3" orient="horz" pos="436">
          <p15:clr>
            <a:srgbClr val="F26B43"/>
          </p15:clr>
        </p15:guide>
        <p15:guide id="4" orient="horz" pos="3884">
          <p15:clr>
            <a:srgbClr val="F26B43"/>
          </p15:clr>
        </p15:guide>
        <p15:guide id="17" orient="horz" pos="799">
          <p15:clr>
            <a:srgbClr val="F26B43"/>
          </p15:clr>
        </p15:guide>
        <p15:guide id="18" pos="37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hyperlink" Target="https://wesmckinney.com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4"/>
          <p:cNvSpPr>
            <a:spLocks/>
          </p:cNvSpPr>
          <p:nvPr/>
        </p:nvSpPr>
        <p:spPr bwMode="auto">
          <a:xfrm>
            <a:off x="685800" y="2667000"/>
            <a:ext cx="8305800" cy="2490192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>
              <a:defRPr sz="6000" b="0" i="0">
                <a:latin typeface="SB Sans Display Light"/>
                <a:ea typeface="+mj-ea"/>
                <a:cs typeface="SB Sans Display Light"/>
              </a:defRPr>
            </a:lvl1pPr>
          </a:lstStyle>
          <a:p>
            <a:pPr lvl="0">
              <a:defRPr/>
            </a:pPr>
            <a:r>
              <a:rPr lang="ru-RU" sz="5400" b="1" dirty="0">
                <a:solidFill>
                  <a:srgbClr val="333F48"/>
                </a:solidFill>
                <a:latin typeface="SB Sans Display Semibold"/>
              </a:rPr>
              <a:t>Модуль </a:t>
            </a:r>
            <a:r>
              <a:rPr lang="en-US" sz="5400" b="1" dirty="0">
                <a:solidFill>
                  <a:srgbClr val="333F48"/>
                </a:solidFill>
                <a:latin typeface="SB Sans Display Semibold"/>
              </a:rPr>
              <a:t>Python</a:t>
            </a:r>
            <a:endParaRPr lang="ru-RU" sz="5400" b="1" dirty="0">
              <a:solidFill>
                <a:srgbClr val="333F48"/>
              </a:solidFill>
              <a:latin typeface="SB Sans Display Semibold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400" dirty="0">
                <a:solidFill>
                  <a:srgbClr val="333F48"/>
                </a:solidFill>
                <a:latin typeface="SB Sans Display Semibold"/>
              </a:rPr>
              <a:t>Преподаватель: Алексей Левченко</a:t>
            </a:r>
            <a:endParaRPr lang="en-US" sz="5400" dirty="0">
              <a:solidFill>
                <a:srgbClr val="333F48"/>
              </a:solidFill>
              <a:latin typeface="SB Sans Display Semibold"/>
            </a:endParaRPr>
          </a:p>
          <a:p>
            <a:pPr lvl="0">
              <a:defRPr/>
            </a:pPr>
            <a:endParaRPr lang="en-US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  <a:p>
            <a:pPr lvl="0">
              <a:defRPr/>
            </a:pPr>
            <a:r>
              <a:rPr lang="en-US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Pandas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/>
          <p:nvPr/>
        </p:nvSpPr>
        <p:spPr bwMode="auto">
          <a:xfrm>
            <a:off x="2248949" y="3062788"/>
            <a:ext cx="5395146" cy="2322846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075998A-3FCC-EA4B-960F-7DB6E5A5A4D8}"/>
              </a:ext>
            </a:extLst>
          </p:cNvPr>
          <p:cNvSpPr>
            <a:spLocks/>
          </p:cNvSpPr>
          <p:nvPr/>
        </p:nvSpPr>
        <p:spPr bwMode="auto">
          <a:xfrm>
            <a:off x="551384" y="404664"/>
            <a:ext cx="10225136" cy="1008112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Pandas</a:t>
            </a:r>
            <a:endParaRPr lang="ru-RU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0BEADFE-FEEC-F945-BB08-0C4555C3664C}"/>
              </a:ext>
            </a:extLst>
          </p:cNvPr>
          <p:cNvSpPr>
            <a:spLocks/>
          </p:cNvSpPr>
          <p:nvPr/>
        </p:nvSpPr>
        <p:spPr bwMode="auto">
          <a:xfrm>
            <a:off x="786803" y="394308"/>
            <a:ext cx="11681496" cy="4902305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46A862A-8A32-F649-8FDE-B083A8FCD98F}"/>
              </a:ext>
            </a:extLst>
          </p:cNvPr>
          <p:cNvSpPr/>
          <p:nvPr/>
        </p:nvSpPr>
        <p:spPr>
          <a:xfrm>
            <a:off x="7013647" y="5812350"/>
            <a:ext cx="26099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github.com</a:t>
            </a:r>
            <a:r>
              <a:rPr lang="ru-RU" dirty="0"/>
              <a:t>/</a:t>
            </a:r>
            <a:r>
              <a:rPr lang="ru-RU" dirty="0" err="1"/>
              <a:t>wesm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5126CD6-DA34-0A4A-B3C6-C23A1F82827A}"/>
              </a:ext>
            </a:extLst>
          </p:cNvPr>
          <p:cNvSpPr/>
          <p:nvPr/>
        </p:nvSpPr>
        <p:spPr>
          <a:xfrm>
            <a:off x="7025878" y="5443535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dirty="0">
                <a:solidFill>
                  <a:srgbClr val="333333"/>
                </a:solidFill>
                <a:latin typeface="Droid Serif"/>
                <a:hlinkClick r:id="rId4"/>
              </a:rPr>
              <a:t>Wes McKinney</a:t>
            </a:r>
            <a:endParaRPr lang="en" dirty="0">
              <a:solidFill>
                <a:srgbClr val="555555"/>
              </a:solidFill>
              <a:latin typeface="Droid Serif"/>
            </a:endParaRPr>
          </a:p>
          <a:p>
            <a:br>
              <a:rPr lang="en" dirty="0"/>
            </a:br>
            <a:endParaRPr lang="ru-RU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72072D6-FD68-8A42-8B59-D3F7373E1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3647" y="2167001"/>
            <a:ext cx="2962289" cy="2998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CD65DBD-4D9F-FD4C-964D-0F1C2EA92906}"/>
              </a:ext>
            </a:extLst>
          </p:cNvPr>
          <p:cNvSpPr txBox="1"/>
          <p:nvPr/>
        </p:nvSpPr>
        <p:spPr>
          <a:xfrm>
            <a:off x="561541" y="3355203"/>
            <a:ext cx="2104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Как установить?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pip install pandas</a:t>
            </a:r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9BAAD73-B14A-8F40-A379-8C6B70DDA792}"/>
              </a:ext>
            </a:extLst>
          </p:cNvPr>
          <p:cNvSpPr/>
          <p:nvPr/>
        </p:nvSpPr>
        <p:spPr>
          <a:xfrm>
            <a:off x="561541" y="3982727"/>
            <a:ext cx="30309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Где найти?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pandas.pydata.org</a:t>
            </a:r>
            <a:r>
              <a:rPr lang="ru-RU" dirty="0"/>
              <a:t>/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0FEBB3-F89B-054B-A8A0-4B525FF55FE5}"/>
              </a:ext>
            </a:extLst>
          </p:cNvPr>
          <p:cNvSpPr txBox="1"/>
          <p:nvPr/>
        </p:nvSpPr>
        <p:spPr bwMode="auto">
          <a:xfrm>
            <a:off x="7069420" y="1461080"/>
            <a:ext cx="16544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Кто придумал?</a:t>
            </a:r>
          </a:p>
          <a:p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B7FE7CB-3B30-154E-9B81-22234C3D4B1A}"/>
              </a:ext>
            </a:extLst>
          </p:cNvPr>
          <p:cNvSpPr txBox="1"/>
          <p:nvPr/>
        </p:nvSpPr>
        <p:spPr bwMode="auto">
          <a:xfrm>
            <a:off x="400167" y="1220848"/>
            <a:ext cx="6942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Это библиотека </a:t>
            </a:r>
            <a:r>
              <a:rPr lang="en-US" dirty="0"/>
              <a:t>Python </a:t>
            </a:r>
            <a:r>
              <a:rPr lang="ru-RU" dirty="0"/>
              <a:t>для работы с данными в виде таблиц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52BCA8-A1A3-E641-AA5D-2BC4A78E8C95}"/>
              </a:ext>
            </a:extLst>
          </p:cNvPr>
          <p:cNvSpPr txBox="1"/>
          <p:nvPr/>
        </p:nvSpPr>
        <p:spPr bwMode="auto">
          <a:xfrm>
            <a:off x="517581" y="1862459"/>
            <a:ext cx="32273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Что делает?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Примерно то же, что делает </a:t>
            </a:r>
            <a:r>
              <a:rPr lang="en-US" dirty="0"/>
              <a:t>Excel </a:t>
            </a:r>
            <a:r>
              <a:rPr lang="ru-RU" dirty="0"/>
              <a:t>с таблицами, только в </a:t>
            </a:r>
            <a:r>
              <a:rPr lang="en-US" dirty="0"/>
              <a:t>Python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6601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/>
          <p:nvPr/>
        </p:nvSpPr>
        <p:spPr bwMode="auto">
          <a:xfrm>
            <a:off x="3541989" y="3388478"/>
            <a:ext cx="5395146" cy="2322846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075998A-3FCC-EA4B-960F-7DB6E5A5A4D8}"/>
              </a:ext>
            </a:extLst>
          </p:cNvPr>
          <p:cNvSpPr>
            <a:spLocks/>
          </p:cNvSpPr>
          <p:nvPr/>
        </p:nvSpPr>
        <p:spPr bwMode="auto">
          <a:xfrm>
            <a:off x="551384" y="404664"/>
            <a:ext cx="10225136" cy="1008112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Pandas</a:t>
            </a: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 Типы данных</a:t>
            </a:r>
            <a:endParaRPr lang="en-US" sz="40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 marL="0" indent="0" algn="ctr">
              <a:lnSpc>
                <a:spcPct val="130000"/>
              </a:lnSpc>
              <a:buNone/>
              <a:defRPr/>
            </a:pPr>
            <a:endParaRPr lang="ru-RU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0BEADFE-FEEC-F945-BB08-0C4555C3664C}"/>
              </a:ext>
            </a:extLst>
          </p:cNvPr>
          <p:cNvSpPr>
            <a:spLocks/>
          </p:cNvSpPr>
          <p:nvPr/>
        </p:nvSpPr>
        <p:spPr bwMode="auto">
          <a:xfrm>
            <a:off x="218767" y="1472366"/>
            <a:ext cx="11681496" cy="5251991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float –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</a:t>
            </a:r>
            <a:r>
              <a:rPr lang="en-US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numpy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float 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поддерживает пропущенные значения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int – </a:t>
            </a:r>
            <a:r>
              <a:rPr lang="en-US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numpy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integer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не поддерживает пропущенные значения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'Int64’ – panda integer 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поддерживает пропуски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object – 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тип для строк и смешанных данных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'category' –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тип категориальных данных 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pandas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, который поддерживает пропуски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bool –  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тип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</a:t>
            </a:r>
            <a:r>
              <a:rPr lang="en-US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numpy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Boolean, 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не поддерживает пропущенные значения 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(None 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становится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False, </a:t>
            </a:r>
            <a:r>
              <a:rPr lang="en-US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np.nan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ставится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True)      </a:t>
            </a:r>
            <a:endParaRPr lang="ru-RU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'</a:t>
            </a:r>
            <a:r>
              <a:rPr lang="en-US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boolean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’ – 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тип данных 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pandas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, который поддерживает пропущенные значения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datetime64[ns] – 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тип данных </a:t>
            </a:r>
            <a:r>
              <a:rPr lang="en-US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numpy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, который не пропуски (</a:t>
            </a:r>
            <a:r>
              <a:rPr lang="en-US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NaT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46033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/>
          <p:nvPr/>
        </p:nvSpPr>
        <p:spPr bwMode="auto">
          <a:xfrm>
            <a:off x="3541989" y="3388478"/>
            <a:ext cx="5395146" cy="2322846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075998A-3FCC-EA4B-960F-7DB6E5A5A4D8}"/>
              </a:ext>
            </a:extLst>
          </p:cNvPr>
          <p:cNvSpPr>
            <a:spLocks/>
          </p:cNvSpPr>
          <p:nvPr/>
        </p:nvSpPr>
        <p:spPr bwMode="auto">
          <a:xfrm>
            <a:off x="551384" y="404664"/>
            <a:ext cx="10225136" cy="1008112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Pandas</a:t>
            </a: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 Типы данных</a:t>
            </a:r>
            <a:endParaRPr lang="en-US" sz="40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 marL="0" indent="0" algn="ctr">
              <a:lnSpc>
                <a:spcPct val="130000"/>
              </a:lnSpc>
              <a:buNone/>
              <a:defRPr/>
            </a:pPr>
            <a:endParaRPr lang="ru-RU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0BEADFE-FEEC-F945-BB08-0C4555C3664C}"/>
              </a:ext>
            </a:extLst>
          </p:cNvPr>
          <p:cNvSpPr>
            <a:spLocks/>
          </p:cNvSpPr>
          <p:nvPr/>
        </p:nvSpPr>
        <p:spPr bwMode="auto">
          <a:xfrm>
            <a:off x="218767" y="1472366"/>
            <a:ext cx="11681496" cy="5251991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  <a:defRPr/>
            </a:pPr>
            <a:endParaRPr lang="ru-RU" dirty="0"/>
          </a:p>
          <a:p>
            <a:pPr marL="0" indent="0">
              <a:lnSpc>
                <a:spcPct val="130000"/>
              </a:lnSpc>
              <a:buNone/>
              <a:defRPr/>
            </a:pPr>
            <a:r>
              <a:rPr lang="ru-RU" dirty="0"/>
              <a:t>Проверка типов данных в </a:t>
            </a:r>
            <a:r>
              <a:rPr lang="en-US" dirty="0" err="1"/>
              <a:t>DataFrame</a:t>
            </a:r>
            <a:r>
              <a:rPr lang="en-US" dirty="0"/>
              <a:t> df</a:t>
            </a:r>
            <a:r>
              <a:rPr lang="ru-RU" dirty="0"/>
              <a:t> </a:t>
            </a:r>
          </a:p>
          <a:p>
            <a:pPr marL="0" indent="0">
              <a:lnSpc>
                <a:spcPct val="130000"/>
              </a:lnSpc>
              <a:buNone/>
              <a:defRPr/>
            </a:pPr>
            <a:r>
              <a:rPr lang="en" dirty="0" err="1"/>
              <a:t>df.info</a:t>
            </a:r>
            <a:r>
              <a:rPr lang="ru-RU" dirty="0"/>
              <a:t>()</a:t>
            </a:r>
            <a:r>
              <a:rPr lang="en" dirty="0"/>
              <a:t> </a:t>
            </a:r>
          </a:p>
          <a:p>
            <a:pPr marL="0" indent="0">
              <a:lnSpc>
                <a:spcPct val="130000"/>
              </a:lnSpc>
              <a:buNone/>
              <a:defRPr/>
            </a:pPr>
            <a:r>
              <a:rPr lang="en" dirty="0" err="1"/>
              <a:t>df.dtypes</a:t>
            </a:r>
            <a:r>
              <a:rPr lang="ru-RU" dirty="0"/>
              <a:t>()</a:t>
            </a:r>
          </a:p>
          <a:p>
            <a:pPr marL="0" indent="0">
              <a:lnSpc>
                <a:spcPct val="130000"/>
              </a:lnSpc>
              <a:buNone/>
              <a:defRPr/>
            </a:pPr>
            <a:r>
              <a:rPr lang="ru-RU" dirty="0"/>
              <a:t>Посчитать типы</a:t>
            </a:r>
          </a:p>
          <a:p>
            <a:pPr marL="0" indent="0">
              <a:lnSpc>
                <a:spcPct val="130000"/>
              </a:lnSpc>
              <a:buNone/>
              <a:defRPr/>
            </a:pPr>
            <a:r>
              <a:rPr lang="en" dirty="0" err="1"/>
              <a:t>df.dtypes.value_counts</a:t>
            </a:r>
            <a:r>
              <a:rPr lang="en" dirty="0"/>
              <a:t>()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908249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/>
          <p:nvPr/>
        </p:nvSpPr>
        <p:spPr bwMode="auto">
          <a:xfrm>
            <a:off x="3541989" y="3388478"/>
            <a:ext cx="5395146" cy="2322846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075998A-3FCC-EA4B-960F-7DB6E5A5A4D8}"/>
              </a:ext>
            </a:extLst>
          </p:cNvPr>
          <p:cNvSpPr>
            <a:spLocks/>
          </p:cNvSpPr>
          <p:nvPr/>
        </p:nvSpPr>
        <p:spPr bwMode="auto">
          <a:xfrm>
            <a:off x="551384" y="404664"/>
            <a:ext cx="10225136" cy="1008112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Pandas </a:t>
            </a: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Структуры Данных</a:t>
            </a:r>
            <a:endParaRPr lang="en-US" sz="40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 marL="0" indent="0" algn="ctr">
              <a:lnSpc>
                <a:spcPct val="130000"/>
              </a:lnSpc>
              <a:buNone/>
              <a:defRPr/>
            </a:pPr>
            <a:endParaRPr lang="ru-RU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0BEADFE-FEEC-F945-BB08-0C4555C3664C}"/>
              </a:ext>
            </a:extLst>
          </p:cNvPr>
          <p:cNvSpPr>
            <a:spLocks/>
          </p:cNvSpPr>
          <p:nvPr/>
        </p:nvSpPr>
        <p:spPr bwMode="auto">
          <a:xfrm>
            <a:off x="218767" y="1472366"/>
            <a:ext cx="11681496" cy="5251991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defRPr/>
            </a:pPr>
            <a:r>
              <a:rPr lang="en-US" dirty="0"/>
              <a:t>Series – </a:t>
            </a:r>
            <a:r>
              <a:rPr lang="ru-RU" dirty="0"/>
              <a:t>одномерный массив с индексами (колонка)</a:t>
            </a:r>
            <a:r>
              <a:rPr lang="en-US" dirty="0"/>
              <a:t> </a:t>
            </a:r>
          </a:p>
          <a:p>
            <a:pPr>
              <a:lnSpc>
                <a:spcPct val="130000"/>
              </a:lnSpc>
              <a:defRPr/>
            </a:pPr>
            <a:r>
              <a:rPr lang="en-US" dirty="0" err="1"/>
              <a:t>DataFrame</a:t>
            </a:r>
            <a:r>
              <a:rPr lang="en-US" dirty="0"/>
              <a:t> - </a:t>
            </a:r>
            <a:r>
              <a:rPr lang="ru-RU" dirty="0"/>
              <a:t>таблица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104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/>
          <p:nvPr/>
        </p:nvSpPr>
        <p:spPr bwMode="auto">
          <a:xfrm>
            <a:off x="3541989" y="3388478"/>
            <a:ext cx="5395146" cy="2322846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075998A-3FCC-EA4B-960F-7DB6E5A5A4D8}"/>
              </a:ext>
            </a:extLst>
          </p:cNvPr>
          <p:cNvSpPr>
            <a:spLocks/>
          </p:cNvSpPr>
          <p:nvPr/>
        </p:nvSpPr>
        <p:spPr bwMode="auto">
          <a:xfrm>
            <a:off x="551384" y="404664"/>
            <a:ext cx="10225136" cy="1008112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Pandas</a:t>
            </a: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.</a:t>
            </a: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Series</a:t>
            </a:r>
            <a:endParaRPr lang="en-US" sz="40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 marL="0" indent="0" algn="ctr">
              <a:lnSpc>
                <a:spcPct val="130000"/>
              </a:lnSpc>
              <a:buNone/>
              <a:defRPr/>
            </a:pPr>
            <a:endParaRPr lang="ru-RU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0BEADFE-FEEC-F945-BB08-0C4555C3664C}"/>
              </a:ext>
            </a:extLst>
          </p:cNvPr>
          <p:cNvSpPr>
            <a:spLocks/>
          </p:cNvSpPr>
          <p:nvPr/>
        </p:nvSpPr>
        <p:spPr bwMode="auto">
          <a:xfrm>
            <a:off x="218767" y="1472366"/>
            <a:ext cx="11681496" cy="4902305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30000"/>
              </a:lnSpc>
              <a:buNone/>
              <a:defRPr/>
            </a:pPr>
            <a:r>
              <a:rPr lang="ru-RU" sz="2400" dirty="0"/>
              <a:t>Как создать </a:t>
            </a:r>
            <a:r>
              <a:rPr lang="en-US" sz="2400" dirty="0"/>
              <a:t>Series</a:t>
            </a:r>
            <a:r>
              <a:rPr lang="ru-RU" sz="2400" dirty="0"/>
              <a:t>? </a:t>
            </a:r>
          </a:p>
          <a:p>
            <a:pPr marL="0" indent="0">
              <a:lnSpc>
                <a:spcPct val="130000"/>
              </a:lnSpc>
              <a:buNone/>
              <a:defRPr/>
            </a:pPr>
            <a:r>
              <a:rPr lang="en" sz="2400" dirty="0"/>
              <a:t>import pandas as pd</a:t>
            </a:r>
            <a:br>
              <a:rPr lang="en" sz="2400" dirty="0"/>
            </a:br>
            <a:r>
              <a:rPr lang="en" sz="2400" dirty="0"/>
              <a:t>ser = </a:t>
            </a:r>
            <a:r>
              <a:rPr lang="en" sz="2400" dirty="0" err="1"/>
              <a:t>pd.Series</a:t>
            </a:r>
            <a:r>
              <a:rPr lang="en" sz="2400" dirty="0"/>
              <a:t>(data, index = </a:t>
            </a:r>
            <a:r>
              <a:rPr lang="en" sz="2400" dirty="0" err="1"/>
              <a:t>idx</a:t>
            </a:r>
            <a:r>
              <a:rPr lang="en" sz="2400" dirty="0"/>
              <a:t>)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3661056-C66D-AA47-B16B-AD8B17C2C05A}"/>
              </a:ext>
            </a:extLst>
          </p:cNvPr>
          <p:cNvSpPr/>
          <p:nvPr/>
        </p:nvSpPr>
        <p:spPr>
          <a:xfrm>
            <a:off x="493989" y="3328888"/>
            <a:ext cx="609600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400" dirty="0">
                <a:solidFill>
                  <a:srgbClr val="333333"/>
                </a:solidFill>
                <a:latin typeface="Georgia" panose="02040502050405020303" pitchFamily="18" charset="0"/>
              </a:rPr>
              <a:t>В качестве </a:t>
            </a:r>
            <a:r>
              <a:rPr lang="en-US" sz="2400" dirty="0">
                <a:solidFill>
                  <a:srgbClr val="333333"/>
                </a:solidFill>
                <a:latin typeface="Georgia" panose="02040502050405020303" pitchFamily="18" charset="0"/>
              </a:rPr>
              <a:t>data </a:t>
            </a:r>
            <a:r>
              <a:rPr lang="ru-RU" sz="2400" dirty="0">
                <a:solidFill>
                  <a:srgbClr val="333333"/>
                </a:solidFill>
                <a:latin typeface="Georgia" panose="02040502050405020303" pitchFamily="18" charset="0"/>
              </a:rPr>
              <a:t>может быть</a:t>
            </a:r>
            <a:endParaRPr lang="en-US" sz="2400" dirty="0">
              <a:solidFill>
                <a:srgbClr val="333333"/>
              </a:solidFill>
              <a:latin typeface="Georgia" panose="020405020504050203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333333"/>
                </a:solidFill>
                <a:latin typeface="Georgia" panose="02040502050405020303" pitchFamily="18" charset="0"/>
              </a:rPr>
              <a:t> </a:t>
            </a:r>
            <a:r>
              <a:rPr lang="en" sz="2400" dirty="0" err="1">
                <a:solidFill>
                  <a:srgbClr val="333333"/>
                </a:solidFill>
                <a:latin typeface="Georgia" panose="02040502050405020303" pitchFamily="18" charset="0"/>
              </a:rPr>
              <a:t>ndarray</a:t>
            </a:r>
            <a:endParaRPr lang="en" sz="2400" dirty="0">
              <a:solidFill>
                <a:srgbClr val="333333"/>
              </a:solidFill>
              <a:latin typeface="Georgia" panose="020405020504050203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" sz="2400" dirty="0">
                <a:solidFill>
                  <a:srgbClr val="333333"/>
                </a:solidFill>
                <a:latin typeface="Georgia" panose="02040502050405020303" pitchFamily="18" charset="0"/>
              </a:rPr>
              <a:t> </a:t>
            </a:r>
            <a:r>
              <a:rPr lang="en" sz="2400" dirty="0" err="1">
                <a:solidFill>
                  <a:srgbClr val="333333"/>
                </a:solidFill>
                <a:latin typeface="Georgia" panose="02040502050405020303" pitchFamily="18" charset="0"/>
              </a:rPr>
              <a:t>dict</a:t>
            </a:r>
            <a:endParaRPr lang="ru-RU" sz="2400" dirty="0">
              <a:solidFill>
                <a:srgbClr val="333333"/>
              </a:solidFill>
              <a:latin typeface="Georgia" panose="02040502050405020303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sz="2400" dirty="0">
                <a:solidFill>
                  <a:srgbClr val="333333"/>
                </a:solidFill>
                <a:latin typeface="Georgia" panose="02040502050405020303" pitchFamily="18" charset="0"/>
              </a:rPr>
              <a:t> </a:t>
            </a:r>
            <a:r>
              <a:rPr lang="en-US" sz="2400" dirty="0">
                <a:solidFill>
                  <a:srgbClr val="333333"/>
                </a:solidFill>
                <a:latin typeface="Georgia" panose="02040502050405020303" pitchFamily="18" charset="0"/>
              </a:rPr>
              <a:t>scalar</a:t>
            </a:r>
            <a:br>
              <a:rPr lang="en" sz="2400" dirty="0"/>
            </a:b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0996453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075998A-3FCC-EA4B-960F-7DB6E5A5A4D8}"/>
              </a:ext>
            </a:extLst>
          </p:cNvPr>
          <p:cNvSpPr>
            <a:spLocks/>
          </p:cNvSpPr>
          <p:nvPr/>
        </p:nvSpPr>
        <p:spPr bwMode="auto">
          <a:xfrm>
            <a:off x="551384" y="404664"/>
            <a:ext cx="10225136" cy="1008112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Pandas</a:t>
            </a: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.</a:t>
            </a:r>
            <a:r>
              <a:rPr lang="en-US" sz="4000" b="1" dirty="0" err="1">
                <a:solidFill>
                  <a:srgbClr val="333F48"/>
                </a:solidFill>
                <a:latin typeface="SB Sans Display Semibold"/>
                <a:cs typeface="SB Sans Display Semibold"/>
              </a:rPr>
              <a:t>DataFrame</a:t>
            </a:r>
            <a:endParaRPr lang="en-US" sz="40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 marL="0" indent="0" algn="ctr">
              <a:lnSpc>
                <a:spcPct val="130000"/>
              </a:lnSpc>
              <a:buNone/>
              <a:defRPr/>
            </a:pPr>
            <a:endParaRPr lang="ru-RU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DE65B08-1BB4-E647-B7A0-5D5D2A6B0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8342" y="1329069"/>
            <a:ext cx="6971220" cy="4837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789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075998A-3FCC-EA4B-960F-7DB6E5A5A4D8}"/>
              </a:ext>
            </a:extLst>
          </p:cNvPr>
          <p:cNvSpPr>
            <a:spLocks/>
          </p:cNvSpPr>
          <p:nvPr/>
        </p:nvSpPr>
        <p:spPr bwMode="auto">
          <a:xfrm>
            <a:off x="551384" y="404664"/>
            <a:ext cx="10225136" cy="1008112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Pandas</a:t>
            </a: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.</a:t>
            </a:r>
            <a:r>
              <a:rPr lang="en-US" sz="4000" b="1" dirty="0" err="1">
                <a:solidFill>
                  <a:srgbClr val="333F48"/>
                </a:solidFill>
                <a:latin typeface="SB Sans Display Semibold"/>
                <a:cs typeface="SB Sans Display Semibold"/>
              </a:rPr>
              <a:t>DataFrame</a:t>
            </a:r>
            <a:endParaRPr lang="en-US" sz="40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 marL="0" indent="0" algn="ctr">
              <a:lnSpc>
                <a:spcPct val="130000"/>
              </a:lnSpc>
              <a:buNone/>
              <a:defRPr/>
            </a:pPr>
            <a:endParaRPr lang="ru-RU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F89EB76-759F-C946-97D7-D608DD10CBA6}"/>
              </a:ext>
            </a:extLst>
          </p:cNvPr>
          <p:cNvSpPr/>
          <p:nvPr/>
        </p:nvSpPr>
        <p:spPr>
          <a:xfrm>
            <a:off x="6685839" y="2377965"/>
            <a:ext cx="34477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dirty="0" err="1"/>
              <a:t>df.to_csv</a:t>
            </a:r>
            <a:r>
              <a:rPr lang="en" dirty="0"/>
              <a:t>('</a:t>
            </a:r>
            <a:r>
              <a:rPr lang="en" dirty="0" err="1"/>
              <a:t>output.csv</a:t>
            </a:r>
            <a:r>
              <a:rPr lang="en" dirty="0"/>
              <a:t>', index=False)</a:t>
            </a:r>
            <a:endParaRPr lang="ru-RU" dirty="0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2FCC73B-9421-D140-B284-D79195FE008C}"/>
              </a:ext>
            </a:extLst>
          </p:cNvPr>
          <p:cNvSpPr/>
          <p:nvPr/>
        </p:nvSpPr>
        <p:spPr>
          <a:xfrm>
            <a:off x="407906" y="1856266"/>
            <a:ext cx="34790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dirty="0"/>
              <a:t>df = </a:t>
            </a:r>
            <a:r>
              <a:rPr lang="en" dirty="0" err="1"/>
              <a:t>pd.read_csv</a:t>
            </a:r>
            <a:r>
              <a:rPr lang="en" dirty="0"/>
              <a:t>('</a:t>
            </a:r>
            <a:r>
              <a:rPr lang="en" dirty="0" err="1"/>
              <a:t>earthquakes.csv</a:t>
            </a:r>
            <a:r>
              <a:rPr lang="en" dirty="0"/>
              <a:t>')</a:t>
            </a:r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2A3E3E3-FF63-784D-87CE-485900E9C036}"/>
              </a:ext>
            </a:extLst>
          </p:cNvPr>
          <p:cNvSpPr/>
          <p:nvPr/>
        </p:nvSpPr>
        <p:spPr>
          <a:xfrm>
            <a:off x="427688" y="2377965"/>
            <a:ext cx="37819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dirty="0"/>
              <a:t>df = </a:t>
            </a:r>
            <a:r>
              <a:rPr lang="en" dirty="0" err="1"/>
              <a:t>pd.read_excel</a:t>
            </a:r>
            <a:r>
              <a:rPr lang="en" dirty="0"/>
              <a:t>('</a:t>
            </a:r>
            <a:r>
              <a:rPr lang="en" dirty="0" err="1"/>
              <a:t>earthquakes.xlsx</a:t>
            </a:r>
            <a:r>
              <a:rPr lang="en-US" dirty="0"/>
              <a:t>’</a:t>
            </a:r>
            <a:r>
              <a:rPr lang="en" dirty="0"/>
              <a:t>)</a:t>
            </a:r>
            <a:r>
              <a:rPr lang="en" i="1" dirty="0">
                <a:solidFill>
                  <a:srgbClr val="000000"/>
                </a:solidFill>
                <a:latin typeface="Georgia" panose="02040502050405020303" pitchFamily="18" charset="0"/>
              </a:rPr>
              <a:t> </a:t>
            </a:r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67A5A42-A57D-C247-A014-E177BED00EB2}"/>
              </a:ext>
            </a:extLst>
          </p:cNvPr>
          <p:cNvSpPr/>
          <p:nvPr/>
        </p:nvSpPr>
        <p:spPr>
          <a:xfrm>
            <a:off x="427688" y="2998779"/>
            <a:ext cx="343953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dirty="0"/>
              <a:t>df = </a:t>
            </a:r>
            <a:r>
              <a:rPr lang="en" dirty="0" err="1"/>
              <a:t>read_json</a:t>
            </a:r>
            <a:r>
              <a:rPr lang="en" dirty="0"/>
              <a:t>('</a:t>
            </a:r>
            <a:r>
              <a:rPr lang="en" dirty="0" err="1"/>
              <a:t>earthquakes.json</a:t>
            </a:r>
            <a:r>
              <a:rPr lang="en-US" dirty="0"/>
              <a:t>’</a:t>
            </a:r>
            <a:r>
              <a:rPr lang="en" dirty="0"/>
              <a:t>)</a:t>
            </a:r>
            <a:r>
              <a:rPr lang="en" i="1" dirty="0">
                <a:solidFill>
                  <a:srgbClr val="000000"/>
                </a:solidFill>
                <a:latin typeface="Georgia" panose="02040502050405020303" pitchFamily="18" charset="0"/>
              </a:rPr>
              <a:t> </a:t>
            </a:r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B971C33-9028-DD48-BD5C-228F15823435}"/>
              </a:ext>
            </a:extLst>
          </p:cNvPr>
          <p:cNvSpPr/>
          <p:nvPr/>
        </p:nvSpPr>
        <p:spPr bwMode="auto">
          <a:xfrm>
            <a:off x="3541989" y="3388478"/>
            <a:ext cx="5395146" cy="2322846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6338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075998A-3FCC-EA4B-960F-7DB6E5A5A4D8}"/>
              </a:ext>
            </a:extLst>
          </p:cNvPr>
          <p:cNvSpPr>
            <a:spLocks/>
          </p:cNvSpPr>
          <p:nvPr/>
        </p:nvSpPr>
        <p:spPr bwMode="auto">
          <a:xfrm>
            <a:off x="551384" y="404664"/>
            <a:ext cx="10225136" cy="1008112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Pandas</a:t>
            </a: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.</a:t>
            </a:r>
            <a:r>
              <a:rPr lang="en-US" sz="4000" b="1" dirty="0" err="1">
                <a:solidFill>
                  <a:srgbClr val="333F48"/>
                </a:solidFill>
                <a:latin typeface="SB Sans Display Semibold"/>
                <a:cs typeface="SB Sans Display Semibold"/>
              </a:rPr>
              <a:t>DataFrame</a:t>
            </a: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 </a:t>
            </a: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– параметры </a:t>
            </a:r>
            <a:r>
              <a:rPr lang="en-US" sz="4000" b="1" dirty="0" err="1">
                <a:solidFill>
                  <a:srgbClr val="333F48"/>
                </a:solidFill>
                <a:latin typeface="SB Sans Display Semibold"/>
                <a:cs typeface="SB Sans Display Semibold"/>
              </a:rPr>
              <a:t>read_csv</a:t>
            </a:r>
            <a:endParaRPr lang="en-US" sz="40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 marL="0" indent="0" algn="ctr">
              <a:lnSpc>
                <a:spcPct val="130000"/>
              </a:lnSpc>
              <a:buNone/>
              <a:defRPr/>
            </a:pPr>
            <a:endParaRPr lang="ru-RU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37DB9CC-CB4E-4B45-95C8-E7BA81F25FF1}"/>
              </a:ext>
            </a:extLst>
          </p:cNvPr>
          <p:cNvSpPr/>
          <p:nvPr/>
        </p:nvSpPr>
        <p:spPr bwMode="auto">
          <a:xfrm>
            <a:off x="3541989" y="3388478"/>
            <a:ext cx="5395146" cy="2322846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E864AF4D-6542-644B-A689-C6F1B161990C}"/>
              </a:ext>
            </a:extLst>
          </p:cNvPr>
          <p:cNvSpPr>
            <a:spLocks/>
          </p:cNvSpPr>
          <p:nvPr/>
        </p:nvSpPr>
        <p:spPr bwMode="auto">
          <a:xfrm>
            <a:off x="426610" y="1453984"/>
            <a:ext cx="11625903" cy="4902305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" dirty="0" err="1"/>
              <a:t>sep</a:t>
            </a:r>
            <a:r>
              <a:rPr lang="en" dirty="0"/>
              <a:t> - </a:t>
            </a:r>
            <a:r>
              <a:rPr lang="ru-RU" dirty="0"/>
              <a:t>разделитель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dirty="0"/>
              <a:t>h</a:t>
            </a:r>
            <a:r>
              <a:rPr lang="en" dirty="0" err="1"/>
              <a:t>eader</a:t>
            </a:r>
            <a:r>
              <a:rPr lang="ru-RU" dirty="0"/>
              <a:t> –</a:t>
            </a:r>
            <a:r>
              <a:rPr lang="en-US" dirty="0"/>
              <a:t> </a:t>
            </a:r>
            <a:r>
              <a:rPr lang="ru-RU" dirty="0"/>
              <a:t>номер строки в которой указаны заголовки</a:t>
            </a:r>
            <a:r>
              <a:rPr lang="en-US" dirty="0"/>
              <a:t> </a:t>
            </a:r>
            <a:r>
              <a:rPr lang="ru-RU" dirty="0"/>
              <a:t> 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dirty="0"/>
              <a:t>n</a:t>
            </a:r>
            <a:r>
              <a:rPr lang="en" dirty="0" err="1"/>
              <a:t>ames</a:t>
            </a:r>
            <a:r>
              <a:rPr lang="ru-RU" dirty="0"/>
              <a:t> – список названия колонок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" dirty="0" err="1"/>
              <a:t>index_col</a:t>
            </a:r>
            <a:r>
              <a:rPr lang="ru-RU" dirty="0"/>
              <a:t> - выбор колонки для индекса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dirty="0"/>
              <a:t>u</a:t>
            </a:r>
            <a:r>
              <a:rPr lang="en" dirty="0" err="1"/>
              <a:t>secols</a:t>
            </a:r>
            <a:r>
              <a:rPr lang="ru-RU" dirty="0"/>
              <a:t> – выбор колонок, которые нужно прочесть</a:t>
            </a:r>
            <a:endParaRPr lang="en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dirty="0"/>
              <a:t>d</a:t>
            </a:r>
            <a:r>
              <a:rPr lang="en" dirty="0"/>
              <a:t>type</a:t>
            </a:r>
            <a:r>
              <a:rPr lang="ru-RU" dirty="0"/>
              <a:t> – определяет тип данных в колонках</a:t>
            </a:r>
            <a:endParaRPr lang="en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dirty="0"/>
              <a:t>c</a:t>
            </a:r>
            <a:r>
              <a:rPr lang="en" dirty="0" err="1"/>
              <a:t>onverters</a:t>
            </a:r>
            <a:r>
              <a:rPr lang="ru-RU" dirty="0"/>
              <a:t> – определяет функции для конвертации данных в определенных колонках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1029582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075998A-3FCC-EA4B-960F-7DB6E5A5A4D8}"/>
              </a:ext>
            </a:extLst>
          </p:cNvPr>
          <p:cNvSpPr>
            <a:spLocks/>
          </p:cNvSpPr>
          <p:nvPr/>
        </p:nvSpPr>
        <p:spPr bwMode="auto">
          <a:xfrm>
            <a:off x="551384" y="404664"/>
            <a:ext cx="10225136" cy="1008112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Pandas</a:t>
            </a: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.</a:t>
            </a:r>
            <a:r>
              <a:rPr lang="en-US" sz="4000" b="1" dirty="0" err="1">
                <a:solidFill>
                  <a:srgbClr val="333F48"/>
                </a:solidFill>
                <a:latin typeface="SB Sans Display Semibold"/>
                <a:cs typeface="SB Sans Display Semibold"/>
              </a:rPr>
              <a:t>DataFrame</a:t>
            </a: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 </a:t>
            </a: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– параметры </a:t>
            </a:r>
            <a:r>
              <a:rPr lang="en-US" sz="4000" b="1" dirty="0" err="1">
                <a:solidFill>
                  <a:srgbClr val="333F48"/>
                </a:solidFill>
                <a:latin typeface="SB Sans Display Semibold"/>
                <a:cs typeface="SB Sans Display Semibold"/>
              </a:rPr>
              <a:t>read_csv</a:t>
            </a:r>
            <a:endParaRPr lang="en-US" sz="40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 marL="0" indent="0" algn="ctr">
              <a:lnSpc>
                <a:spcPct val="130000"/>
              </a:lnSpc>
              <a:buNone/>
              <a:defRPr/>
            </a:pPr>
            <a:endParaRPr lang="ru-RU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37DB9CC-CB4E-4B45-95C8-E7BA81F25FF1}"/>
              </a:ext>
            </a:extLst>
          </p:cNvPr>
          <p:cNvSpPr/>
          <p:nvPr/>
        </p:nvSpPr>
        <p:spPr bwMode="auto">
          <a:xfrm>
            <a:off x="3541989" y="3388478"/>
            <a:ext cx="5395146" cy="2322846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E864AF4D-6542-644B-A689-C6F1B161990C}"/>
              </a:ext>
            </a:extLst>
          </p:cNvPr>
          <p:cNvSpPr>
            <a:spLocks/>
          </p:cNvSpPr>
          <p:nvPr/>
        </p:nvSpPr>
        <p:spPr bwMode="auto">
          <a:xfrm>
            <a:off x="426610" y="1453984"/>
            <a:ext cx="11625903" cy="4902305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" dirty="0" err="1"/>
              <a:t>sep</a:t>
            </a:r>
            <a:r>
              <a:rPr lang="en" dirty="0"/>
              <a:t> - </a:t>
            </a:r>
            <a:r>
              <a:rPr lang="ru-RU" dirty="0"/>
              <a:t>разделитель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dirty="0"/>
              <a:t>h</a:t>
            </a:r>
            <a:r>
              <a:rPr lang="en" dirty="0" err="1"/>
              <a:t>eader</a:t>
            </a:r>
            <a:r>
              <a:rPr lang="ru-RU" dirty="0"/>
              <a:t> –</a:t>
            </a:r>
            <a:r>
              <a:rPr lang="en-US" dirty="0"/>
              <a:t> </a:t>
            </a:r>
            <a:r>
              <a:rPr lang="ru-RU" dirty="0"/>
              <a:t>номер строки в которой указаны заголовки</a:t>
            </a:r>
            <a:r>
              <a:rPr lang="en-US" dirty="0"/>
              <a:t> </a:t>
            </a:r>
            <a:r>
              <a:rPr lang="ru-RU" dirty="0"/>
              <a:t> 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dirty="0"/>
              <a:t>n</a:t>
            </a:r>
            <a:r>
              <a:rPr lang="en" dirty="0" err="1"/>
              <a:t>ames</a:t>
            </a:r>
            <a:r>
              <a:rPr lang="ru-RU" dirty="0"/>
              <a:t> – список названия колонок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" dirty="0" err="1"/>
              <a:t>index_col</a:t>
            </a:r>
            <a:r>
              <a:rPr lang="ru-RU" dirty="0"/>
              <a:t> - выбор колонки для индекса 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dirty="0"/>
              <a:t>u</a:t>
            </a:r>
            <a:r>
              <a:rPr lang="en" dirty="0" err="1"/>
              <a:t>secols</a:t>
            </a:r>
            <a:r>
              <a:rPr lang="ru-RU" dirty="0"/>
              <a:t> – выбор колонок, которые нужно прочесть</a:t>
            </a:r>
            <a:endParaRPr lang="en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dirty="0"/>
              <a:t>d</a:t>
            </a:r>
            <a:r>
              <a:rPr lang="en" dirty="0"/>
              <a:t>type</a:t>
            </a:r>
            <a:r>
              <a:rPr lang="ru-RU" dirty="0"/>
              <a:t> – определяет тип данных в колонках</a:t>
            </a:r>
            <a:endParaRPr lang="en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dirty="0"/>
              <a:t>c</a:t>
            </a:r>
            <a:r>
              <a:rPr lang="en" dirty="0" err="1"/>
              <a:t>onverters</a:t>
            </a:r>
            <a:r>
              <a:rPr lang="ru-RU" dirty="0"/>
              <a:t> – определяет функции для конвертации данных в определенных колонках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1707347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075998A-3FCC-EA4B-960F-7DB6E5A5A4D8}"/>
              </a:ext>
            </a:extLst>
          </p:cNvPr>
          <p:cNvSpPr>
            <a:spLocks/>
          </p:cNvSpPr>
          <p:nvPr/>
        </p:nvSpPr>
        <p:spPr bwMode="auto">
          <a:xfrm>
            <a:off x="551384" y="404664"/>
            <a:ext cx="10225136" cy="1008112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Pandas</a:t>
            </a: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.</a:t>
            </a:r>
            <a:r>
              <a:rPr lang="en-US" sz="4000" b="1" dirty="0" err="1">
                <a:solidFill>
                  <a:srgbClr val="333F48"/>
                </a:solidFill>
                <a:latin typeface="SB Sans Display Semibold"/>
                <a:cs typeface="SB Sans Display Semibold"/>
              </a:rPr>
              <a:t>DataFrame</a:t>
            </a: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 </a:t>
            </a: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– параметры </a:t>
            </a:r>
            <a:r>
              <a:rPr lang="en-US" sz="4000" b="1" dirty="0" err="1">
                <a:solidFill>
                  <a:srgbClr val="333F48"/>
                </a:solidFill>
                <a:latin typeface="SB Sans Display Semibold"/>
                <a:cs typeface="SB Sans Display Semibold"/>
              </a:rPr>
              <a:t>read_csv</a:t>
            </a:r>
            <a:endParaRPr lang="en-US" sz="40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 marL="0" indent="0" algn="ctr">
              <a:lnSpc>
                <a:spcPct val="130000"/>
              </a:lnSpc>
              <a:buNone/>
              <a:defRPr/>
            </a:pPr>
            <a:endParaRPr lang="ru-RU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37DB9CC-CB4E-4B45-95C8-E7BA81F25FF1}"/>
              </a:ext>
            </a:extLst>
          </p:cNvPr>
          <p:cNvSpPr/>
          <p:nvPr/>
        </p:nvSpPr>
        <p:spPr bwMode="auto">
          <a:xfrm>
            <a:off x="3541989" y="3388478"/>
            <a:ext cx="5395146" cy="2322846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E864AF4D-6542-644B-A689-C6F1B161990C}"/>
              </a:ext>
            </a:extLst>
          </p:cNvPr>
          <p:cNvSpPr>
            <a:spLocks/>
          </p:cNvSpPr>
          <p:nvPr/>
        </p:nvSpPr>
        <p:spPr bwMode="auto">
          <a:xfrm>
            <a:off x="426610" y="1453984"/>
            <a:ext cx="11625903" cy="4902305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dirty="0" err="1"/>
              <a:t>sk</a:t>
            </a:r>
            <a:r>
              <a:rPr lang="en" dirty="0" err="1"/>
              <a:t>iprows</a:t>
            </a:r>
            <a:r>
              <a:rPr lang="ru-RU" dirty="0"/>
              <a:t> – для пропуска определенного количества строк файла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" dirty="0" err="1"/>
              <a:t>nrows</a:t>
            </a:r>
            <a:r>
              <a:rPr lang="en" dirty="0"/>
              <a:t> – </a:t>
            </a:r>
            <a:r>
              <a:rPr lang="ru-RU" dirty="0"/>
              <a:t>для загрузки определенного количества строк файла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" dirty="0" err="1"/>
              <a:t>parse_dates</a:t>
            </a:r>
            <a:r>
              <a:rPr lang="ru-RU" dirty="0"/>
              <a:t> – автоматически распознает колонки с датами и переводит их в </a:t>
            </a:r>
            <a:r>
              <a:rPr lang="en-US" dirty="0"/>
              <a:t>datetime</a:t>
            </a:r>
            <a:r>
              <a:rPr lang="ru-RU" dirty="0"/>
              <a:t> 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" dirty="0" err="1"/>
              <a:t>chunksize</a:t>
            </a:r>
            <a:r>
              <a:rPr lang="ru-RU" dirty="0"/>
              <a:t> – для загрузки файла по кусочкам</a:t>
            </a:r>
            <a:endParaRPr lang="en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" dirty="0"/>
              <a:t>compression</a:t>
            </a:r>
            <a:r>
              <a:rPr lang="ru-RU" dirty="0"/>
              <a:t> – для чтения сжатых файлов</a:t>
            </a:r>
            <a:endParaRPr lang="en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" dirty="0"/>
              <a:t>encoding – </a:t>
            </a:r>
            <a:r>
              <a:rPr lang="ru-RU" dirty="0"/>
              <a:t>для указания кодировки</a:t>
            </a:r>
            <a:endParaRPr lang="en" dirty="0"/>
          </a:p>
          <a:p>
            <a:pPr marL="0" indent="0">
              <a:lnSpc>
                <a:spcPct val="130000"/>
              </a:lnSpc>
              <a:buNone/>
              <a:defRPr/>
            </a:pP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114796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075998A-3FCC-EA4B-960F-7DB6E5A5A4D8}"/>
              </a:ext>
            </a:extLst>
          </p:cNvPr>
          <p:cNvSpPr>
            <a:spLocks/>
          </p:cNvSpPr>
          <p:nvPr/>
        </p:nvSpPr>
        <p:spPr bwMode="auto">
          <a:xfrm>
            <a:off x="551384" y="404664"/>
            <a:ext cx="10225136" cy="1008112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Pandas</a:t>
            </a: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.</a:t>
            </a:r>
            <a:r>
              <a:rPr lang="en-US" sz="4000" b="1" dirty="0" err="1">
                <a:solidFill>
                  <a:srgbClr val="333F48"/>
                </a:solidFill>
                <a:latin typeface="SB Sans Display Semibold"/>
                <a:cs typeface="SB Sans Display Semibold"/>
              </a:rPr>
              <a:t>DataFrame</a:t>
            </a: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 </a:t>
            </a: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– проверка</a:t>
            </a:r>
            <a:endParaRPr lang="en-US" sz="40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 marL="0" indent="0" algn="ctr">
              <a:lnSpc>
                <a:spcPct val="130000"/>
              </a:lnSpc>
              <a:buNone/>
              <a:defRPr/>
            </a:pPr>
            <a:endParaRPr lang="en-US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  <a:p>
            <a:pPr marL="0" indent="0" algn="ctr">
              <a:lnSpc>
                <a:spcPct val="130000"/>
              </a:lnSpc>
              <a:buNone/>
              <a:defRPr/>
            </a:pPr>
            <a:endParaRPr lang="ru-RU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37DB9CC-CB4E-4B45-95C8-E7BA81F25FF1}"/>
              </a:ext>
            </a:extLst>
          </p:cNvPr>
          <p:cNvSpPr/>
          <p:nvPr/>
        </p:nvSpPr>
        <p:spPr bwMode="auto">
          <a:xfrm>
            <a:off x="3541989" y="3388478"/>
            <a:ext cx="5395146" cy="2322846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E864AF4D-6542-644B-A689-C6F1B161990C}"/>
              </a:ext>
            </a:extLst>
          </p:cNvPr>
          <p:cNvSpPr>
            <a:spLocks/>
          </p:cNvSpPr>
          <p:nvPr/>
        </p:nvSpPr>
        <p:spPr bwMode="auto">
          <a:xfrm>
            <a:off x="426610" y="1453984"/>
            <a:ext cx="11625903" cy="4902305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</a:t>
            </a:r>
            <a:r>
              <a:rPr lang="en-US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df.empty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– 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есть ли данные в </a:t>
            </a:r>
            <a:r>
              <a:rPr lang="en-US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DataFrame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df.shape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– 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возвращает размеры таблицы (количество строк и столбцов)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df.head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()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– показывает первые строки таблицы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" sz="2400" dirty="0" err="1"/>
              <a:t>df.tail</a:t>
            </a:r>
            <a:r>
              <a:rPr lang="en" sz="2400" dirty="0"/>
              <a:t>(2)</a:t>
            </a:r>
            <a:r>
              <a:rPr lang="ru-RU" sz="2400" dirty="0"/>
              <a:t> – показывает последние строки таблицы</a:t>
            </a:r>
            <a:endParaRPr lang="en" sz="24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df.columns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– возвращает список названий колонок</a:t>
            </a:r>
            <a:endParaRPr lang="en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Df.dtypes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– показывает типы данных в колонках таблицы</a:t>
            </a:r>
            <a:endParaRPr lang="en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</a:t>
            </a:r>
            <a:r>
              <a:rPr lang="en-US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df.describe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()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– возвращает описательные статистики </a:t>
            </a:r>
            <a:r>
              <a:rPr lang="en-US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DataFrame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 marL="0" indent="0">
              <a:lnSpc>
                <a:spcPct val="130000"/>
              </a:lnSpc>
              <a:buNone/>
              <a:defRPr/>
            </a:pP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177750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075998A-3FCC-EA4B-960F-7DB6E5A5A4D8}"/>
              </a:ext>
            </a:extLst>
          </p:cNvPr>
          <p:cNvSpPr>
            <a:spLocks/>
          </p:cNvSpPr>
          <p:nvPr/>
        </p:nvSpPr>
        <p:spPr bwMode="auto">
          <a:xfrm>
            <a:off x="551384" y="404664"/>
            <a:ext cx="10225136" cy="1008112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Pandas</a:t>
            </a: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.</a:t>
            </a:r>
            <a:r>
              <a:rPr lang="en-US" sz="4000" b="1" dirty="0" err="1">
                <a:solidFill>
                  <a:srgbClr val="333F48"/>
                </a:solidFill>
                <a:latin typeface="SB Sans Display Semibold"/>
                <a:cs typeface="SB Sans Display Semibold"/>
              </a:rPr>
              <a:t>DataFrame</a:t>
            </a: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 </a:t>
            </a: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– проверка</a:t>
            </a:r>
            <a:endParaRPr lang="en-US" sz="40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 marL="0" indent="0" algn="ctr">
              <a:lnSpc>
                <a:spcPct val="130000"/>
              </a:lnSpc>
              <a:buNone/>
              <a:defRPr/>
            </a:pPr>
            <a:endParaRPr lang="en-US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  <a:p>
            <a:pPr marL="0" indent="0" algn="ctr">
              <a:lnSpc>
                <a:spcPct val="130000"/>
              </a:lnSpc>
              <a:buNone/>
              <a:defRPr/>
            </a:pPr>
            <a:endParaRPr lang="ru-RU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37DB9CC-CB4E-4B45-95C8-E7BA81F25FF1}"/>
              </a:ext>
            </a:extLst>
          </p:cNvPr>
          <p:cNvSpPr/>
          <p:nvPr/>
        </p:nvSpPr>
        <p:spPr bwMode="auto">
          <a:xfrm>
            <a:off x="3541989" y="3388478"/>
            <a:ext cx="5395146" cy="2322846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E864AF4D-6542-644B-A689-C6F1B161990C}"/>
              </a:ext>
            </a:extLst>
          </p:cNvPr>
          <p:cNvSpPr>
            <a:spLocks/>
          </p:cNvSpPr>
          <p:nvPr/>
        </p:nvSpPr>
        <p:spPr bwMode="auto">
          <a:xfrm>
            <a:off x="426611" y="1453984"/>
            <a:ext cx="6345664" cy="5404016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df.count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() 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– число элементов в колонках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df.nunique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()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число уникальных элементов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df.sum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() - 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сумма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df.mean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()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- средняя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df.median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()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- медиана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df.min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()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- минимум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Df.max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()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- максимум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Df.idxmin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()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– индекс минимального значения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Df.idxmax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()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- индекс максимального значения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BBAAE08A-97E4-CD45-9D44-9DDF709725B0}"/>
              </a:ext>
            </a:extLst>
          </p:cNvPr>
          <p:cNvSpPr>
            <a:spLocks/>
          </p:cNvSpPr>
          <p:nvPr/>
        </p:nvSpPr>
        <p:spPr bwMode="auto">
          <a:xfrm>
            <a:off x="7992183" y="1412776"/>
            <a:ext cx="4060330" cy="5404016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df.std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()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– стандартное отклонение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df.var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()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- вариация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df.cov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()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– ковариация 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df.corr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()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– коэффициент </a:t>
            </a:r>
            <a:r>
              <a:rPr lang="ru-RU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кореляции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df.quantile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()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- квантиль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df.cumsum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()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– кумулятивная сумма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0715334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075998A-3FCC-EA4B-960F-7DB6E5A5A4D8}"/>
              </a:ext>
            </a:extLst>
          </p:cNvPr>
          <p:cNvSpPr>
            <a:spLocks/>
          </p:cNvSpPr>
          <p:nvPr/>
        </p:nvSpPr>
        <p:spPr bwMode="auto">
          <a:xfrm>
            <a:off x="551384" y="404664"/>
            <a:ext cx="10225136" cy="1008112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Pandas</a:t>
            </a: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.</a:t>
            </a:r>
            <a:r>
              <a:rPr lang="en-US" sz="4000" b="1" dirty="0" err="1">
                <a:solidFill>
                  <a:srgbClr val="333F48"/>
                </a:solidFill>
                <a:latin typeface="SB Sans Display Semibold"/>
                <a:cs typeface="SB Sans Display Semibold"/>
              </a:rPr>
              <a:t>DataFrame</a:t>
            </a: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 </a:t>
            </a: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выбор данных</a:t>
            </a:r>
            <a:endParaRPr lang="en-US" sz="40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 marL="0" indent="0" algn="ctr">
              <a:lnSpc>
                <a:spcPct val="130000"/>
              </a:lnSpc>
              <a:buNone/>
              <a:defRPr/>
            </a:pPr>
            <a:endParaRPr lang="en-US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  <a:p>
            <a:pPr marL="0" indent="0" algn="ctr">
              <a:lnSpc>
                <a:spcPct val="130000"/>
              </a:lnSpc>
              <a:buNone/>
              <a:defRPr/>
            </a:pPr>
            <a:endParaRPr lang="ru-RU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37DB9CC-CB4E-4B45-95C8-E7BA81F25FF1}"/>
              </a:ext>
            </a:extLst>
          </p:cNvPr>
          <p:cNvSpPr/>
          <p:nvPr/>
        </p:nvSpPr>
        <p:spPr bwMode="auto">
          <a:xfrm>
            <a:off x="3541989" y="3388478"/>
            <a:ext cx="5395146" cy="2322846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E864AF4D-6542-644B-A689-C6F1B161990C}"/>
              </a:ext>
            </a:extLst>
          </p:cNvPr>
          <p:cNvSpPr>
            <a:spLocks/>
          </p:cNvSpPr>
          <p:nvPr/>
        </p:nvSpPr>
        <p:spPr bwMode="auto">
          <a:xfrm>
            <a:off x="426611" y="1453984"/>
            <a:ext cx="4060330" cy="5404016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df.mag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df.[‘mag’]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df[[‘</a:t>
            </a:r>
            <a:r>
              <a:rPr lang="en-US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mag’,’title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’]]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99AC0A1-9779-5147-9D2C-0A62FEF095DD}"/>
              </a:ext>
            </a:extLst>
          </p:cNvPr>
          <p:cNvSpPr>
            <a:spLocks/>
          </p:cNvSpPr>
          <p:nvPr/>
        </p:nvSpPr>
        <p:spPr bwMode="auto">
          <a:xfrm>
            <a:off x="6469448" y="1403011"/>
            <a:ext cx="4060330" cy="5404016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Df[100:103]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df[[‘</a:t>
            </a:r>
            <a:r>
              <a:rPr lang="en-US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mag’,’title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’]] [100:103]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144971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075998A-3FCC-EA4B-960F-7DB6E5A5A4D8}"/>
              </a:ext>
            </a:extLst>
          </p:cNvPr>
          <p:cNvSpPr>
            <a:spLocks/>
          </p:cNvSpPr>
          <p:nvPr/>
        </p:nvSpPr>
        <p:spPr bwMode="auto">
          <a:xfrm>
            <a:off x="551384" y="404664"/>
            <a:ext cx="10225136" cy="1008112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Pandas</a:t>
            </a: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.</a:t>
            </a:r>
            <a:r>
              <a:rPr lang="en-US" sz="4000" b="1" dirty="0" err="1">
                <a:solidFill>
                  <a:srgbClr val="333F48"/>
                </a:solidFill>
                <a:latin typeface="SB Sans Display Semibold"/>
                <a:cs typeface="SB Sans Display Semibold"/>
              </a:rPr>
              <a:t>DataFrame</a:t>
            </a: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 </a:t>
            </a: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выбор данных</a:t>
            </a:r>
            <a:endParaRPr lang="en-US" sz="40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 marL="0" indent="0" algn="ctr">
              <a:lnSpc>
                <a:spcPct val="130000"/>
              </a:lnSpc>
              <a:buNone/>
              <a:defRPr/>
            </a:pPr>
            <a:endParaRPr lang="en-US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  <a:p>
            <a:pPr marL="0" indent="0" algn="ctr">
              <a:lnSpc>
                <a:spcPct val="130000"/>
              </a:lnSpc>
              <a:buNone/>
              <a:defRPr/>
            </a:pPr>
            <a:endParaRPr lang="ru-RU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37DB9CC-CB4E-4B45-95C8-E7BA81F25FF1}"/>
              </a:ext>
            </a:extLst>
          </p:cNvPr>
          <p:cNvSpPr/>
          <p:nvPr/>
        </p:nvSpPr>
        <p:spPr bwMode="auto">
          <a:xfrm>
            <a:off x="3541989" y="3388478"/>
            <a:ext cx="5395146" cy="2322846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E864AF4D-6542-644B-A689-C6F1B161990C}"/>
              </a:ext>
            </a:extLst>
          </p:cNvPr>
          <p:cNvSpPr>
            <a:spLocks/>
          </p:cNvSpPr>
          <p:nvPr/>
        </p:nvSpPr>
        <p:spPr bwMode="auto">
          <a:xfrm>
            <a:off x="426610" y="1453984"/>
            <a:ext cx="10225135" cy="5404016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" sz="2400" dirty="0" err="1"/>
              <a:t>df.loc</a:t>
            </a:r>
            <a:r>
              <a:rPr lang="en" sz="2400" dirty="0"/>
              <a:t>[110:112, 'title'] = </a:t>
            </a:r>
            <a:r>
              <a:rPr lang="en" sz="2400" dirty="0" err="1"/>
              <a:t>df.loc</a:t>
            </a:r>
            <a:r>
              <a:rPr lang="en" sz="2400" dirty="0"/>
              <a:t>[110:112, 'title'].</a:t>
            </a:r>
            <a:r>
              <a:rPr lang="en" sz="2400" dirty="0" err="1"/>
              <a:t>str.lower</a:t>
            </a:r>
            <a:r>
              <a:rPr lang="en" sz="2400" dirty="0"/>
              <a:t>()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" sz="2400" dirty="0" err="1"/>
              <a:t>df.loc</a:t>
            </a:r>
            <a:r>
              <a:rPr lang="en" sz="2400" dirty="0"/>
              <a:t>[:,'title’]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" sz="2400" dirty="0" err="1"/>
              <a:t>df.loc</a:t>
            </a:r>
            <a:r>
              <a:rPr lang="en" sz="2400" dirty="0"/>
              <a:t>[10:15, ['title', 'mag’]]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endParaRPr lang="en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" sz="2400" dirty="0" err="1"/>
              <a:t>df.iloc</a:t>
            </a:r>
            <a:r>
              <a:rPr lang="en" sz="2400" dirty="0"/>
              <a:t>[10:15, [19, 8]]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" sz="2400" dirty="0" err="1"/>
              <a:t>df.iloc</a:t>
            </a:r>
            <a:r>
              <a:rPr lang="en" sz="2400" dirty="0"/>
              <a:t>[10:15, 8:10]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endParaRPr lang="en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 marL="0" indent="0">
              <a:lnSpc>
                <a:spcPct val="130000"/>
              </a:lnSpc>
              <a:buNone/>
              <a:defRPr/>
            </a:pPr>
            <a:r>
              <a:rPr lang="en" sz="2400" dirty="0" err="1"/>
              <a:t>df.at</a:t>
            </a:r>
            <a:r>
              <a:rPr lang="en" sz="2400" dirty="0"/>
              <a:t>[10, 'mag’]</a:t>
            </a:r>
          </a:p>
          <a:p>
            <a:pPr marL="0" indent="0">
              <a:lnSpc>
                <a:spcPct val="130000"/>
              </a:lnSpc>
              <a:buNone/>
              <a:defRPr/>
            </a:pPr>
            <a:r>
              <a:rPr lang="en" sz="2400" dirty="0" err="1"/>
              <a:t>df.iat</a:t>
            </a:r>
            <a:r>
              <a:rPr lang="en" sz="2400" dirty="0"/>
              <a:t>[10, 8]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6191361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075998A-3FCC-EA4B-960F-7DB6E5A5A4D8}"/>
              </a:ext>
            </a:extLst>
          </p:cNvPr>
          <p:cNvSpPr>
            <a:spLocks/>
          </p:cNvSpPr>
          <p:nvPr/>
        </p:nvSpPr>
        <p:spPr bwMode="auto">
          <a:xfrm>
            <a:off x="551384" y="404664"/>
            <a:ext cx="10225136" cy="1008112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Pandas</a:t>
            </a: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.</a:t>
            </a:r>
            <a:r>
              <a:rPr lang="en-US" sz="4000" b="1" dirty="0" err="1">
                <a:solidFill>
                  <a:srgbClr val="333F48"/>
                </a:solidFill>
                <a:latin typeface="SB Sans Display Semibold"/>
                <a:cs typeface="SB Sans Display Semibold"/>
              </a:rPr>
              <a:t>DataFrame</a:t>
            </a: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 </a:t>
            </a: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 - Фильтр</a:t>
            </a:r>
            <a:endParaRPr lang="en-US" sz="40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 marL="0" indent="0" algn="ctr">
              <a:lnSpc>
                <a:spcPct val="130000"/>
              </a:lnSpc>
              <a:buNone/>
              <a:defRPr/>
            </a:pPr>
            <a:endParaRPr lang="en-US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  <a:p>
            <a:pPr marL="0" indent="0" algn="ctr">
              <a:lnSpc>
                <a:spcPct val="130000"/>
              </a:lnSpc>
              <a:buNone/>
              <a:defRPr/>
            </a:pPr>
            <a:endParaRPr lang="ru-RU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37DB9CC-CB4E-4B45-95C8-E7BA81F25FF1}"/>
              </a:ext>
            </a:extLst>
          </p:cNvPr>
          <p:cNvSpPr/>
          <p:nvPr/>
        </p:nvSpPr>
        <p:spPr bwMode="auto">
          <a:xfrm>
            <a:off x="3541989" y="3388478"/>
            <a:ext cx="5395146" cy="2322846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E864AF4D-6542-644B-A689-C6F1B161990C}"/>
              </a:ext>
            </a:extLst>
          </p:cNvPr>
          <p:cNvSpPr>
            <a:spLocks/>
          </p:cNvSpPr>
          <p:nvPr/>
        </p:nvSpPr>
        <p:spPr bwMode="auto">
          <a:xfrm>
            <a:off x="426610" y="1453984"/>
            <a:ext cx="10225135" cy="5404016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" sz="2400" dirty="0" err="1"/>
              <a:t>df.mag</a:t>
            </a:r>
            <a:r>
              <a:rPr lang="en" sz="2400" dirty="0"/>
              <a:t> &gt; 2</a:t>
            </a:r>
            <a:r>
              <a:rPr lang="ru-RU" sz="2400" dirty="0"/>
              <a:t> – создает</a:t>
            </a:r>
            <a:r>
              <a:rPr lang="en-US" sz="2400" dirty="0"/>
              <a:t> </a:t>
            </a:r>
            <a:r>
              <a:rPr lang="ru-RU" sz="2400" dirty="0"/>
              <a:t>маску для фильтра ( массив из </a:t>
            </a:r>
            <a:r>
              <a:rPr lang="en-US" sz="2400" dirty="0" err="1"/>
              <a:t>True|False</a:t>
            </a:r>
            <a:r>
              <a:rPr lang="ru-RU" sz="2400" dirty="0"/>
              <a:t>)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" sz="2400" dirty="0"/>
              <a:t>df[</a:t>
            </a:r>
            <a:r>
              <a:rPr lang="en" sz="2400" dirty="0" err="1"/>
              <a:t>df.mag</a:t>
            </a:r>
            <a:r>
              <a:rPr lang="en" sz="2400" dirty="0"/>
              <a:t> &gt;= 7.0]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endParaRPr lang="en" sz="24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" sz="2400" dirty="0" err="1"/>
              <a:t>df.loc</a:t>
            </a:r>
            <a:r>
              <a:rPr lang="en" sz="2400" dirty="0"/>
              <a:t>[</a:t>
            </a:r>
            <a:r>
              <a:rPr lang="en" sz="2400" dirty="0" err="1"/>
              <a:t>df.mag</a:t>
            </a:r>
            <a:r>
              <a:rPr lang="en" sz="2400" dirty="0"/>
              <a:t> &gt;= 7.0,  ['alert', 'mag', '</a:t>
            </a:r>
            <a:r>
              <a:rPr lang="en" sz="2400" dirty="0" err="1"/>
              <a:t>magType</a:t>
            </a:r>
            <a:r>
              <a:rPr lang="en" sz="2400" dirty="0"/>
              <a:t>', 'title', 'tsunami', 'type']]</a:t>
            </a:r>
            <a:endParaRPr lang="en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" sz="2400" dirty="0" err="1"/>
              <a:t>df.loc</a:t>
            </a:r>
            <a:r>
              <a:rPr lang="en" sz="2400" dirty="0"/>
              <a:t>[</a:t>
            </a:r>
            <a:br>
              <a:rPr lang="en" sz="2400" dirty="0"/>
            </a:br>
            <a:r>
              <a:rPr lang="en" sz="2400" dirty="0"/>
              <a:t>... (</a:t>
            </a:r>
            <a:r>
              <a:rPr lang="en" sz="2400" dirty="0" err="1"/>
              <a:t>df.tsunami</a:t>
            </a:r>
            <a:r>
              <a:rPr lang="en" sz="2400" dirty="0"/>
              <a:t> == 1) &amp; (</a:t>
            </a:r>
            <a:r>
              <a:rPr lang="en" sz="2400" dirty="0" err="1"/>
              <a:t>df.alert</a:t>
            </a:r>
            <a:r>
              <a:rPr lang="en" sz="2400" dirty="0"/>
              <a:t> == 'red'), </a:t>
            </a:r>
            <a:br>
              <a:rPr lang="en" sz="2400" dirty="0"/>
            </a:br>
            <a:r>
              <a:rPr lang="en" sz="2400" dirty="0"/>
              <a:t>... ['alert', 'mag', '</a:t>
            </a:r>
            <a:r>
              <a:rPr lang="en" sz="2400" dirty="0" err="1"/>
              <a:t>magType</a:t>
            </a:r>
            <a:r>
              <a:rPr lang="en" sz="2400" dirty="0"/>
              <a:t>', 'title', 'tsunami', 'type'] ]</a:t>
            </a:r>
            <a:endParaRPr lang="en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3523329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075998A-3FCC-EA4B-960F-7DB6E5A5A4D8}"/>
              </a:ext>
            </a:extLst>
          </p:cNvPr>
          <p:cNvSpPr>
            <a:spLocks/>
          </p:cNvSpPr>
          <p:nvPr/>
        </p:nvSpPr>
        <p:spPr bwMode="auto">
          <a:xfrm>
            <a:off x="551384" y="404664"/>
            <a:ext cx="10225136" cy="1008112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Pandas</a:t>
            </a: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.</a:t>
            </a:r>
            <a:r>
              <a:rPr lang="en-US" sz="4000" b="1" dirty="0" err="1">
                <a:solidFill>
                  <a:srgbClr val="333F48"/>
                </a:solidFill>
                <a:latin typeface="SB Sans Display Semibold"/>
                <a:cs typeface="SB Sans Display Semibold"/>
              </a:rPr>
              <a:t>DataFrame</a:t>
            </a: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 </a:t>
            </a: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 - Фильтр</a:t>
            </a:r>
            <a:endParaRPr lang="en-US" sz="40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 marL="0" indent="0" algn="ctr">
              <a:lnSpc>
                <a:spcPct val="130000"/>
              </a:lnSpc>
              <a:buNone/>
              <a:defRPr/>
            </a:pPr>
            <a:endParaRPr lang="en-US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  <a:p>
            <a:pPr marL="0" indent="0" algn="ctr">
              <a:lnSpc>
                <a:spcPct val="130000"/>
              </a:lnSpc>
              <a:buNone/>
              <a:defRPr/>
            </a:pPr>
            <a:endParaRPr lang="ru-RU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37DB9CC-CB4E-4B45-95C8-E7BA81F25FF1}"/>
              </a:ext>
            </a:extLst>
          </p:cNvPr>
          <p:cNvSpPr/>
          <p:nvPr/>
        </p:nvSpPr>
        <p:spPr bwMode="auto">
          <a:xfrm>
            <a:off x="3541989" y="3388478"/>
            <a:ext cx="5395146" cy="2322846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E864AF4D-6542-644B-A689-C6F1B161990C}"/>
              </a:ext>
            </a:extLst>
          </p:cNvPr>
          <p:cNvSpPr>
            <a:spLocks/>
          </p:cNvSpPr>
          <p:nvPr/>
        </p:nvSpPr>
        <p:spPr bwMode="auto">
          <a:xfrm>
            <a:off x="426610" y="1453984"/>
            <a:ext cx="10225135" cy="5404016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" sz="2400" dirty="0"/>
              <a:t>&gt;&gt;&gt; </a:t>
            </a:r>
            <a:r>
              <a:rPr lang="en" sz="2400" dirty="0" err="1"/>
              <a:t>df.loc</a:t>
            </a:r>
            <a:r>
              <a:rPr lang="en" sz="2400" dirty="0"/>
              <a:t>[</a:t>
            </a:r>
            <a:br>
              <a:rPr lang="en" sz="2400" dirty="0"/>
            </a:br>
            <a:r>
              <a:rPr lang="en" sz="2400" dirty="0"/>
              <a:t>... (</a:t>
            </a:r>
            <a:r>
              <a:rPr lang="en" sz="2400" dirty="0" err="1"/>
              <a:t>df.tsunami</a:t>
            </a:r>
            <a:r>
              <a:rPr lang="en" sz="2400" dirty="0"/>
              <a:t> == 1) </a:t>
            </a:r>
            <a:r>
              <a:rPr lang="en" sz="2400" b="1" dirty="0"/>
              <a:t>|</a:t>
            </a:r>
            <a:r>
              <a:rPr lang="en" sz="2400" dirty="0"/>
              <a:t> (</a:t>
            </a:r>
            <a:r>
              <a:rPr lang="en" sz="2400" dirty="0" err="1"/>
              <a:t>df.alert</a:t>
            </a:r>
            <a:r>
              <a:rPr lang="en" sz="2400" dirty="0"/>
              <a:t> == 'red'), </a:t>
            </a:r>
            <a:br>
              <a:rPr lang="en" sz="2400" dirty="0"/>
            </a:br>
            <a:r>
              <a:rPr lang="en" sz="2400" dirty="0"/>
              <a:t>... ['alert', 'mag', '</a:t>
            </a:r>
            <a:r>
              <a:rPr lang="en" sz="2400" dirty="0" err="1"/>
              <a:t>magType</a:t>
            </a:r>
            <a:r>
              <a:rPr lang="en" sz="2400" dirty="0"/>
              <a:t>', 'title', 'tsunami', 'type']</a:t>
            </a:r>
            <a:br>
              <a:rPr lang="en" sz="2400" dirty="0"/>
            </a:br>
            <a:r>
              <a:rPr lang="en" sz="2400" dirty="0"/>
              <a:t>... ]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" sz="2400" dirty="0" err="1"/>
              <a:t>df.loc</a:t>
            </a:r>
            <a:r>
              <a:rPr lang="en" sz="2400" dirty="0"/>
              <a:t>[</a:t>
            </a:r>
            <a:br>
              <a:rPr lang="en" sz="2400" dirty="0"/>
            </a:br>
            <a:r>
              <a:rPr lang="en" sz="2400" dirty="0"/>
              <a:t>... (</a:t>
            </a:r>
            <a:r>
              <a:rPr lang="en" sz="2400" b="1" dirty="0" err="1"/>
              <a:t>df.place.str.contains</a:t>
            </a:r>
            <a:r>
              <a:rPr lang="en" sz="2400" b="1" dirty="0"/>
              <a:t>('Alaska')</a:t>
            </a:r>
            <a:r>
              <a:rPr lang="en" sz="2400" dirty="0"/>
              <a:t>) &amp; (</a:t>
            </a:r>
            <a:r>
              <a:rPr lang="en" sz="2400" b="1" dirty="0" err="1"/>
              <a:t>df.alert.notnull</a:t>
            </a:r>
            <a:r>
              <a:rPr lang="en" sz="2400" b="1" dirty="0"/>
              <a:t>()</a:t>
            </a:r>
            <a:r>
              <a:rPr lang="en" sz="2400" dirty="0"/>
              <a:t>), </a:t>
            </a:r>
            <a:br>
              <a:rPr lang="en" sz="2400" dirty="0"/>
            </a:br>
            <a:r>
              <a:rPr lang="en" sz="2400" dirty="0"/>
              <a:t>... ['alert', 'mag', '</a:t>
            </a:r>
            <a:r>
              <a:rPr lang="en" sz="2400" dirty="0" err="1"/>
              <a:t>magType</a:t>
            </a:r>
            <a:r>
              <a:rPr lang="en" sz="2400" dirty="0"/>
              <a:t>', 'title', 'tsunami', 'type']</a:t>
            </a:r>
            <a:br>
              <a:rPr lang="en" sz="2400" dirty="0"/>
            </a:br>
            <a:r>
              <a:rPr lang="en" sz="2400" dirty="0"/>
              <a:t>... ]</a:t>
            </a:r>
            <a:endParaRPr lang="en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8385199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075998A-3FCC-EA4B-960F-7DB6E5A5A4D8}"/>
              </a:ext>
            </a:extLst>
          </p:cNvPr>
          <p:cNvSpPr>
            <a:spLocks/>
          </p:cNvSpPr>
          <p:nvPr/>
        </p:nvSpPr>
        <p:spPr bwMode="auto">
          <a:xfrm>
            <a:off x="551384" y="404664"/>
            <a:ext cx="10225136" cy="1008112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Pandas</a:t>
            </a: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.</a:t>
            </a:r>
            <a:r>
              <a:rPr lang="en-US" sz="4000" b="1" dirty="0" err="1">
                <a:solidFill>
                  <a:srgbClr val="333F48"/>
                </a:solidFill>
                <a:latin typeface="SB Sans Display Semibold"/>
                <a:cs typeface="SB Sans Display Semibold"/>
              </a:rPr>
              <a:t>DataFrame</a:t>
            </a: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 </a:t>
            </a: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 - Фильтр</a:t>
            </a:r>
            <a:endParaRPr lang="en-US" sz="40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 marL="0" indent="0" algn="ctr">
              <a:lnSpc>
                <a:spcPct val="130000"/>
              </a:lnSpc>
              <a:buNone/>
              <a:defRPr/>
            </a:pPr>
            <a:endParaRPr lang="en-US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  <a:p>
            <a:pPr marL="0" indent="0" algn="ctr">
              <a:lnSpc>
                <a:spcPct val="130000"/>
              </a:lnSpc>
              <a:buNone/>
              <a:defRPr/>
            </a:pPr>
            <a:endParaRPr lang="ru-RU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37DB9CC-CB4E-4B45-95C8-E7BA81F25FF1}"/>
              </a:ext>
            </a:extLst>
          </p:cNvPr>
          <p:cNvSpPr/>
          <p:nvPr/>
        </p:nvSpPr>
        <p:spPr bwMode="auto">
          <a:xfrm>
            <a:off x="3541989" y="3388478"/>
            <a:ext cx="5395146" cy="2322846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E864AF4D-6542-644B-A689-C6F1B161990C}"/>
              </a:ext>
            </a:extLst>
          </p:cNvPr>
          <p:cNvSpPr>
            <a:spLocks/>
          </p:cNvSpPr>
          <p:nvPr/>
        </p:nvSpPr>
        <p:spPr bwMode="auto">
          <a:xfrm>
            <a:off x="426610" y="1453984"/>
            <a:ext cx="10225135" cy="5404016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" sz="2400" dirty="0" err="1"/>
              <a:t>df.mag.between</a:t>
            </a:r>
            <a:r>
              <a:rPr lang="en" sz="2400" dirty="0"/>
              <a:t>(6.5, 7.5)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" sz="2400" dirty="0"/>
              <a:t>&gt;&gt;&gt; </a:t>
            </a:r>
            <a:r>
              <a:rPr lang="en" sz="2400" dirty="0" err="1"/>
              <a:t>df.loc</a:t>
            </a:r>
            <a:r>
              <a:rPr lang="en" sz="2400" dirty="0"/>
              <a:t>[</a:t>
            </a:r>
            <a:br>
              <a:rPr lang="en" sz="2400" dirty="0"/>
            </a:br>
            <a:r>
              <a:rPr lang="en" sz="2400" dirty="0"/>
              <a:t>... </a:t>
            </a:r>
            <a:r>
              <a:rPr lang="en" sz="2400" dirty="0" err="1"/>
              <a:t>df.mag.between</a:t>
            </a:r>
            <a:r>
              <a:rPr lang="en" sz="2400" dirty="0"/>
              <a:t>(6.5, 7.5), </a:t>
            </a:r>
            <a:br>
              <a:rPr lang="en" sz="2400" dirty="0"/>
            </a:br>
            <a:r>
              <a:rPr lang="en" sz="2400" dirty="0"/>
              <a:t>... ['alert', 'mag', '</a:t>
            </a:r>
            <a:r>
              <a:rPr lang="en" sz="2400" dirty="0" err="1"/>
              <a:t>magType</a:t>
            </a:r>
            <a:r>
              <a:rPr lang="en" sz="2400" dirty="0"/>
              <a:t>', 'title', 'tsunami', 'type']</a:t>
            </a:r>
            <a:br>
              <a:rPr lang="en" sz="2400" dirty="0"/>
            </a:br>
            <a:r>
              <a:rPr lang="en" sz="2400" dirty="0"/>
              <a:t>... ]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" sz="2400" dirty="0" err="1"/>
              <a:t>df.loc</a:t>
            </a:r>
            <a:r>
              <a:rPr lang="en" sz="2400" dirty="0"/>
              <a:t>[(</a:t>
            </a:r>
            <a:r>
              <a:rPr lang="en" sz="2400" dirty="0" err="1"/>
              <a:t>df.place.str.contains</a:t>
            </a:r>
            <a:r>
              <a:rPr lang="en" sz="2400" dirty="0"/>
              <a:t>(</a:t>
            </a:r>
            <a:r>
              <a:rPr lang="en" sz="2400" dirty="0" err="1"/>
              <a:t>r'CA|California</a:t>
            </a:r>
            <a:r>
              <a:rPr lang="en" sz="2400" dirty="0"/>
              <a:t>$')) &amp;(</a:t>
            </a:r>
            <a:r>
              <a:rPr lang="en" sz="2400" dirty="0" err="1"/>
              <a:t>df.mag</a:t>
            </a:r>
            <a:r>
              <a:rPr lang="en" sz="2400" dirty="0"/>
              <a:t> &gt; 3.8), </a:t>
            </a:r>
          </a:p>
          <a:p>
            <a:pPr marL="0" indent="0">
              <a:lnSpc>
                <a:spcPct val="130000"/>
              </a:lnSpc>
              <a:buNone/>
              <a:defRPr/>
            </a:pPr>
            <a:r>
              <a:rPr lang="en" sz="2400" dirty="0"/>
              <a:t> ['alert', 'mag', '</a:t>
            </a:r>
            <a:r>
              <a:rPr lang="en" sz="2400" dirty="0" err="1"/>
              <a:t>magType</a:t>
            </a:r>
            <a:r>
              <a:rPr lang="en" sz="2400" dirty="0"/>
              <a:t>', 'title', 'tsunami', 'type’]] </a:t>
            </a:r>
          </a:p>
          <a:p>
            <a:pPr marL="0" indent="0">
              <a:lnSpc>
                <a:spcPct val="130000"/>
              </a:lnSpc>
              <a:buNone/>
              <a:defRPr/>
            </a:pPr>
            <a:endParaRPr lang="en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 marL="0" indent="0">
              <a:lnSpc>
                <a:spcPct val="130000"/>
              </a:lnSpc>
              <a:buNone/>
              <a:defRPr/>
            </a:pPr>
            <a:endParaRPr lang="en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9882832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075998A-3FCC-EA4B-960F-7DB6E5A5A4D8}"/>
              </a:ext>
            </a:extLst>
          </p:cNvPr>
          <p:cNvSpPr>
            <a:spLocks/>
          </p:cNvSpPr>
          <p:nvPr/>
        </p:nvSpPr>
        <p:spPr bwMode="auto">
          <a:xfrm>
            <a:off x="551384" y="404664"/>
            <a:ext cx="10225136" cy="1008112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Pandas</a:t>
            </a: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.</a:t>
            </a:r>
            <a:r>
              <a:rPr lang="en-US" sz="4000" b="1" dirty="0" err="1">
                <a:solidFill>
                  <a:srgbClr val="333F48"/>
                </a:solidFill>
                <a:latin typeface="SB Sans Display Semibold"/>
                <a:cs typeface="SB Sans Display Semibold"/>
              </a:rPr>
              <a:t>DataFrame</a:t>
            </a: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 </a:t>
            </a: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 - Фильтр</a:t>
            </a:r>
            <a:endParaRPr lang="en-US" sz="40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 marL="0" indent="0" algn="ctr">
              <a:lnSpc>
                <a:spcPct val="130000"/>
              </a:lnSpc>
              <a:buNone/>
              <a:defRPr/>
            </a:pPr>
            <a:endParaRPr lang="en-US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  <a:p>
            <a:pPr marL="0" indent="0" algn="ctr">
              <a:lnSpc>
                <a:spcPct val="130000"/>
              </a:lnSpc>
              <a:buNone/>
              <a:defRPr/>
            </a:pPr>
            <a:endParaRPr lang="ru-RU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37DB9CC-CB4E-4B45-95C8-E7BA81F25FF1}"/>
              </a:ext>
            </a:extLst>
          </p:cNvPr>
          <p:cNvSpPr/>
          <p:nvPr/>
        </p:nvSpPr>
        <p:spPr bwMode="auto">
          <a:xfrm>
            <a:off x="3541989" y="3388478"/>
            <a:ext cx="5395146" cy="2322846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E864AF4D-6542-644B-A689-C6F1B161990C}"/>
              </a:ext>
            </a:extLst>
          </p:cNvPr>
          <p:cNvSpPr>
            <a:spLocks/>
          </p:cNvSpPr>
          <p:nvPr/>
        </p:nvSpPr>
        <p:spPr bwMode="auto">
          <a:xfrm>
            <a:off x="426610" y="1453984"/>
            <a:ext cx="10225135" cy="5404016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" sz="2400" dirty="0" err="1"/>
              <a:t>df.loc</a:t>
            </a:r>
            <a:r>
              <a:rPr lang="en" sz="2400" dirty="0"/>
              <a:t>[</a:t>
            </a:r>
            <a:br>
              <a:rPr lang="en" sz="2400" dirty="0"/>
            </a:br>
            <a:r>
              <a:rPr lang="en" sz="2400" dirty="0"/>
              <a:t>... </a:t>
            </a:r>
            <a:r>
              <a:rPr lang="en" sz="2400" dirty="0" err="1"/>
              <a:t>df.alert.isin</a:t>
            </a:r>
            <a:r>
              <a:rPr lang="en" sz="2400" dirty="0"/>
              <a:t>(['orange', 'red']), </a:t>
            </a:r>
            <a:br>
              <a:rPr lang="en" sz="2400" dirty="0"/>
            </a:br>
            <a:r>
              <a:rPr lang="en" sz="2400" dirty="0"/>
              <a:t>... ['alert', 'mag', '</a:t>
            </a:r>
            <a:r>
              <a:rPr lang="en" sz="2400" dirty="0" err="1"/>
              <a:t>magType</a:t>
            </a:r>
            <a:r>
              <a:rPr lang="en" sz="2400" dirty="0"/>
              <a:t>', 'title', 'tsunami', 'type']</a:t>
            </a:r>
            <a:br>
              <a:rPr lang="en" sz="2400" dirty="0"/>
            </a:br>
            <a:r>
              <a:rPr lang="en" sz="2400" dirty="0"/>
              <a:t>... ]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" sz="2400" dirty="0" err="1"/>
              <a:t>df.loc</a:t>
            </a:r>
            <a:r>
              <a:rPr lang="en" sz="2400" dirty="0"/>
              <a:t>[</a:t>
            </a:r>
            <a:br>
              <a:rPr lang="en" sz="2400" dirty="0"/>
            </a:br>
            <a:r>
              <a:rPr lang="en" sz="2400" dirty="0"/>
              <a:t>... </a:t>
            </a:r>
            <a:r>
              <a:rPr lang="en" sz="2400" b="1" dirty="0"/>
              <a:t>[</a:t>
            </a:r>
            <a:r>
              <a:rPr lang="en" sz="2400" b="1" dirty="0" err="1"/>
              <a:t>df.mag.idxmin</a:t>
            </a:r>
            <a:r>
              <a:rPr lang="en" sz="2400" b="1" dirty="0"/>
              <a:t>(), </a:t>
            </a:r>
            <a:r>
              <a:rPr lang="en" sz="2400" b="1" dirty="0" err="1"/>
              <a:t>df.mag.idxmax</a:t>
            </a:r>
            <a:r>
              <a:rPr lang="en" sz="2400" b="1" dirty="0"/>
              <a:t>()]</a:t>
            </a:r>
            <a:r>
              <a:rPr lang="en" sz="2400" dirty="0"/>
              <a:t>, </a:t>
            </a:r>
            <a:br>
              <a:rPr lang="en" sz="2400" dirty="0"/>
            </a:br>
            <a:r>
              <a:rPr lang="en" sz="2400" dirty="0"/>
              <a:t>... ['alert', 'mag', '</a:t>
            </a:r>
            <a:r>
              <a:rPr lang="en" sz="2400" dirty="0" err="1"/>
              <a:t>magType</a:t>
            </a:r>
            <a:r>
              <a:rPr lang="en" sz="2400" dirty="0"/>
              <a:t>', 'title', 'tsunami', 'type']</a:t>
            </a:r>
            <a:br>
              <a:rPr lang="en" sz="2400" dirty="0"/>
            </a:br>
            <a:r>
              <a:rPr lang="en" sz="2400" dirty="0"/>
              <a:t>... ]</a:t>
            </a:r>
            <a:endParaRPr lang="en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 marL="0" indent="0">
              <a:lnSpc>
                <a:spcPct val="130000"/>
              </a:lnSpc>
              <a:buNone/>
              <a:defRPr/>
            </a:pPr>
            <a:endParaRPr lang="en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072169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075998A-3FCC-EA4B-960F-7DB6E5A5A4D8}"/>
              </a:ext>
            </a:extLst>
          </p:cNvPr>
          <p:cNvSpPr>
            <a:spLocks/>
          </p:cNvSpPr>
          <p:nvPr/>
        </p:nvSpPr>
        <p:spPr bwMode="auto">
          <a:xfrm>
            <a:off x="551384" y="404664"/>
            <a:ext cx="10225136" cy="1008112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Pandas</a:t>
            </a: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.</a:t>
            </a:r>
            <a:r>
              <a:rPr lang="en-US" sz="4000" b="1" dirty="0" err="1">
                <a:solidFill>
                  <a:srgbClr val="333F48"/>
                </a:solidFill>
                <a:latin typeface="SB Sans Display Semibold"/>
                <a:cs typeface="SB Sans Display Semibold"/>
              </a:rPr>
              <a:t>DataFrame</a:t>
            </a: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 </a:t>
            </a: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 - копия </a:t>
            </a:r>
            <a:endParaRPr lang="en-US" sz="40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 marL="0" indent="0" algn="ctr">
              <a:lnSpc>
                <a:spcPct val="130000"/>
              </a:lnSpc>
              <a:buNone/>
              <a:defRPr/>
            </a:pPr>
            <a:endParaRPr lang="en-US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  <a:p>
            <a:pPr marL="0" indent="0" algn="ctr">
              <a:lnSpc>
                <a:spcPct val="130000"/>
              </a:lnSpc>
              <a:buNone/>
              <a:defRPr/>
            </a:pPr>
            <a:endParaRPr lang="ru-RU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37DB9CC-CB4E-4B45-95C8-E7BA81F25FF1}"/>
              </a:ext>
            </a:extLst>
          </p:cNvPr>
          <p:cNvSpPr/>
          <p:nvPr/>
        </p:nvSpPr>
        <p:spPr bwMode="auto">
          <a:xfrm>
            <a:off x="3541989" y="3388478"/>
            <a:ext cx="5395146" cy="2322846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E864AF4D-6542-644B-A689-C6F1B161990C}"/>
              </a:ext>
            </a:extLst>
          </p:cNvPr>
          <p:cNvSpPr>
            <a:spLocks/>
          </p:cNvSpPr>
          <p:nvPr/>
        </p:nvSpPr>
        <p:spPr bwMode="auto">
          <a:xfrm>
            <a:off x="426610" y="1453984"/>
            <a:ext cx="10225135" cy="5404016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dfA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= </a:t>
            </a:r>
            <a:r>
              <a:rPr lang="en-US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dfB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 - ссылка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dfA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= </a:t>
            </a:r>
            <a:r>
              <a:rPr lang="en-US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dfB.copy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() </a:t>
            </a:r>
            <a:endParaRPr lang="en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3254515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075998A-3FCC-EA4B-960F-7DB6E5A5A4D8}"/>
              </a:ext>
            </a:extLst>
          </p:cNvPr>
          <p:cNvSpPr>
            <a:spLocks/>
          </p:cNvSpPr>
          <p:nvPr/>
        </p:nvSpPr>
        <p:spPr bwMode="auto">
          <a:xfrm>
            <a:off x="551384" y="404664"/>
            <a:ext cx="10225136" cy="1008112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Pandas</a:t>
            </a: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.</a:t>
            </a:r>
            <a:r>
              <a:rPr lang="en-US" sz="4000" b="1" dirty="0" err="1">
                <a:solidFill>
                  <a:srgbClr val="333F48"/>
                </a:solidFill>
                <a:latin typeface="SB Sans Display Semibold"/>
                <a:cs typeface="SB Sans Display Semibold"/>
              </a:rPr>
              <a:t>DataFrame</a:t>
            </a: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 </a:t>
            </a: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 - Присвоение значений </a:t>
            </a:r>
            <a:endParaRPr lang="en-US" sz="40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 marL="0" indent="0" algn="ctr">
              <a:lnSpc>
                <a:spcPct val="130000"/>
              </a:lnSpc>
              <a:buNone/>
              <a:defRPr/>
            </a:pPr>
            <a:endParaRPr lang="en-US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37DB9CC-CB4E-4B45-95C8-E7BA81F25FF1}"/>
              </a:ext>
            </a:extLst>
          </p:cNvPr>
          <p:cNvSpPr/>
          <p:nvPr/>
        </p:nvSpPr>
        <p:spPr bwMode="auto">
          <a:xfrm>
            <a:off x="3541989" y="3388478"/>
            <a:ext cx="5395146" cy="2322846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E864AF4D-6542-644B-A689-C6F1B161990C}"/>
              </a:ext>
            </a:extLst>
          </p:cNvPr>
          <p:cNvSpPr>
            <a:spLocks/>
          </p:cNvSpPr>
          <p:nvPr/>
        </p:nvSpPr>
        <p:spPr bwMode="auto">
          <a:xfrm>
            <a:off x="426610" y="1453984"/>
            <a:ext cx="10225135" cy="5404016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Df[‘one’] = 1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" sz="2400" dirty="0"/>
              <a:t>df['</a:t>
            </a:r>
            <a:r>
              <a:rPr lang="en" sz="2400" dirty="0" err="1"/>
              <a:t>mag_negative</a:t>
            </a:r>
            <a:r>
              <a:rPr lang="en" sz="2400" dirty="0"/>
              <a:t>'] = </a:t>
            </a:r>
            <a:r>
              <a:rPr lang="en" sz="2400" dirty="0" err="1"/>
              <a:t>df.mag</a:t>
            </a:r>
            <a:r>
              <a:rPr lang="en" sz="2400" dirty="0"/>
              <a:t> &lt; 0</a:t>
            </a:r>
            <a:endParaRPr lang="ru-RU" sz="2400" dirty="0"/>
          </a:p>
          <a:p>
            <a:pPr marL="0" indent="0">
              <a:lnSpc>
                <a:spcPct val="130000"/>
              </a:lnSpc>
              <a:buNone/>
              <a:defRPr/>
            </a:pPr>
            <a:endParaRPr lang="ru-RU" sz="2400" dirty="0"/>
          </a:p>
          <a:p>
            <a:pPr marL="0" indent="0">
              <a:lnSpc>
                <a:spcPct val="130000"/>
              </a:lnSpc>
              <a:buNone/>
              <a:defRPr/>
            </a:pPr>
            <a:r>
              <a:rPr lang="en" sz="2400" dirty="0" err="1"/>
              <a:t>df.assign</a:t>
            </a:r>
            <a:r>
              <a:rPr lang="en" sz="2400" dirty="0"/>
              <a:t>(</a:t>
            </a:r>
            <a:br>
              <a:rPr lang="en" sz="2400" dirty="0"/>
            </a:br>
            <a:r>
              <a:rPr lang="en" sz="2400" dirty="0"/>
              <a:t>... </a:t>
            </a:r>
            <a:r>
              <a:rPr lang="en" sz="2400" dirty="0" err="1"/>
              <a:t>in_ca</a:t>
            </a:r>
            <a:r>
              <a:rPr lang="en" sz="2400" dirty="0"/>
              <a:t>=</a:t>
            </a:r>
            <a:r>
              <a:rPr lang="en" sz="2400" dirty="0" err="1"/>
              <a:t>df.parsed_place.str.endswith</a:t>
            </a:r>
            <a:r>
              <a:rPr lang="en" sz="2400" dirty="0"/>
              <a:t>('California'), </a:t>
            </a:r>
            <a:br>
              <a:rPr lang="en" sz="2400" dirty="0"/>
            </a:br>
            <a:r>
              <a:rPr lang="en" sz="2400" dirty="0"/>
              <a:t>... </a:t>
            </a:r>
            <a:r>
              <a:rPr lang="en" sz="2400" dirty="0" err="1"/>
              <a:t>in_alaska</a:t>
            </a:r>
            <a:r>
              <a:rPr lang="en" sz="2400" dirty="0"/>
              <a:t>=</a:t>
            </a:r>
            <a:r>
              <a:rPr lang="en" sz="2400" dirty="0" err="1"/>
              <a:t>df.parsed_place.str.endswith</a:t>
            </a:r>
            <a:r>
              <a:rPr lang="en" sz="2400" dirty="0"/>
              <a:t>('Alaska')</a:t>
            </a:r>
            <a:br>
              <a:rPr lang="en" sz="2400" dirty="0"/>
            </a:br>
            <a:r>
              <a:rPr lang="en" sz="2400" dirty="0"/>
              <a:t>... ).head()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9261732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075998A-3FCC-EA4B-960F-7DB6E5A5A4D8}"/>
              </a:ext>
            </a:extLst>
          </p:cNvPr>
          <p:cNvSpPr>
            <a:spLocks/>
          </p:cNvSpPr>
          <p:nvPr/>
        </p:nvSpPr>
        <p:spPr bwMode="auto">
          <a:xfrm>
            <a:off x="551384" y="404664"/>
            <a:ext cx="10225136" cy="1008112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Pandas</a:t>
            </a: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.</a:t>
            </a:r>
            <a:r>
              <a:rPr lang="en-US" sz="4000" b="1" dirty="0" err="1">
                <a:solidFill>
                  <a:srgbClr val="333F48"/>
                </a:solidFill>
                <a:latin typeface="SB Sans Display Semibold"/>
                <a:cs typeface="SB Sans Display Semibold"/>
              </a:rPr>
              <a:t>DataFrame</a:t>
            </a: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 </a:t>
            </a: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 - Присвоение значений </a:t>
            </a:r>
            <a:endParaRPr lang="en-US" sz="40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 marL="0" indent="0" algn="ctr">
              <a:lnSpc>
                <a:spcPct val="130000"/>
              </a:lnSpc>
              <a:buNone/>
              <a:defRPr/>
            </a:pPr>
            <a:endParaRPr lang="en-US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37DB9CC-CB4E-4B45-95C8-E7BA81F25FF1}"/>
              </a:ext>
            </a:extLst>
          </p:cNvPr>
          <p:cNvSpPr/>
          <p:nvPr/>
        </p:nvSpPr>
        <p:spPr bwMode="auto">
          <a:xfrm>
            <a:off x="3541989" y="3388478"/>
            <a:ext cx="5395146" cy="2322846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E864AF4D-6542-644B-A689-C6F1B161990C}"/>
              </a:ext>
            </a:extLst>
          </p:cNvPr>
          <p:cNvSpPr>
            <a:spLocks/>
          </p:cNvSpPr>
          <p:nvPr/>
        </p:nvSpPr>
        <p:spPr bwMode="auto">
          <a:xfrm>
            <a:off x="426610" y="1453984"/>
            <a:ext cx="10225135" cy="5404016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Df[‘one’] = 1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" sz="2400" dirty="0"/>
              <a:t>df['</a:t>
            </a:r>
            <a:r>
              <a:rPr lang="en" sz="2400" dirty="0" err="1"/>
              <a:t>mag_negative</a:t>
            </a:r>
            <a:r>
              <a:rPr lang="en" sz="2400" dirty="0"/>
              <a:t>'] = </a:t>
            </a:r>
            <a:r>
              <a:rPr lang="en" sz="2400" dirty="0" err="1"/>
              <a:t>df.mag</a:t>
            </a:r>
            <a:r>
              <a:rPr lang="en" sz="2400" dirty="0"/>
              <a:t> &lt; 0</a:t>
            </a:r>
            <a:endParaRPr lang="ru-RU" sz="2400" dirty="0"/>
          </a:p>
          <a:p>
            <a:pPr marL="0" indent="0">
              <a:lnSpc>
                <a:spcPct val="130000"/>
              </a:lnSpc>
              <a:buNone/>
              <a:defRPr/>
            </a:pPr>
            <a:endParaRPr lang="ru-RU" sz="2400" dirty="0"/>
          </a:p>
          <a:p>
            <a:pPr marL="0" indent="0">
              <a:lnSpc>
                <a:spcPct val="130000"/>
              </a:lnSpc>
              <a:buNone/>
              <a:defRPr/>
            </a:pPr>
            <a:r>
              <a:rPr lang="en" sz="2400" dirty="0" err="1"/>
              <a:t>df.assign</a:t>
            </a:r>
            <a:r>
              <a:rPr lang="en" sz="2400" dirty="0"/>
              <a:t>(</a:t>
            </a:r>
            <a:br>
              <a:rPr lang="en" sz="2400" dirty="0"/>
            </a:br>
            <a:r>
              <a:rPr lang="en" sz="2400" dirty="0"/>
              <a:t>... </a:t>
            </a:r>
            <a:r>
              <a:rPr lang="en" sz="2400" dirty="0" err="1"/>
              <a:t>in_ca</a:t>
            </a:r>
            <a:r>
              <a:rPr lang="en" sz="2400" dirty="0"/>
              <a:t>=</a:t>
            </a:r>
            <a:r>
              <a:rPr lang="en" sz="2400" dirty="0" err="1"/>
              <a:t>df.parsed_place.str.endswith</a:t>
            </a:r>
            <a:r>
              <a:rPr lang="en" sz="2400" dirty="0"/>
              <a:t>('California'), </a:t>
            </a:r>
            <a:br>
              <a:rPr lang="en" sz="2400" dirty="0"/>
            </a:br>
            <a:r>
              <a:rPr lang="en" sz="2400" dirty="0"/>
              <a:t>... </a:t>
            </a:r>
            <a:r>
              <a:rPr lang="en" sz="2400" dirty="0" err="1"/>
              <a:t>in_alaska</a:t>
            </a:r>
            <a:r>
              <a:rPr lang="en" sz="2400" dirty="0"/>
              <a:t>=</a:t>
            </a:r>
            <a:r>
              <a:rPr lang="en" sz="2400" dirty="0" err="1"/>
              <a:t>df.parsed_place.str.endswith</a:t>
            </a:r>
            <a:r>
              <a:rPr lang="en" sz="2400" dirty="0"/>
              <a:t>('Alaska')</a:t>
            </a:r>
            <a:br>
              <a:rPr lang="en" sz="2400" dirty="0"/>
            </a:br>
            <a:r>
              <a:rPr lang="en" sz="2400" dirty="0"/>
              <a:t>... ).head()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7237657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/>
          <p:nvPr/>
        </p:nvSpPr>
        <p:spPr bwMode="auto">
          <a:xfrm>
            <a:off x="3541989" y="3388478"/>
            <a:ext cx="5395146" cy="2322846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075998A-3FCC-EA4B-960F-7DB6E5A5A4D8}"/>
              </a:ext>
            </a:extLst>
          </p:cNvPr>
          <p:cNvSpPr>
            <a:spLocks/>
          </p:cNvSpPr>
          <p:nvPr/>
        </p:nvSpPr>
        <p:spPr bwMode="auto">
          <a:xfrm>
            <a:off x="551384" y="404664"/>
            <a:ext cx="10225136" cy="1008112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Pandas</a:t>
            </a: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.</a:t>
            </a: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 </a:t>
            </a:r>
            <a:r>
              <a:rPr lang="en-US" sz="4000" b="1" dirty="0" err="1">
                <a:solidFill>
                  <a:srgbClr val="333F48"/>
                </a:solidFill>
                <a:latin typeface="SB Sans Display Semibold"/>
                <a:cs typeface="SB Sans Display Semibold"/>
              </a:rPr>
              <a:t>Concat</a:t>
            </a:r>
            <a:endParaRPr lang="en-US" sz="40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 marL="0" indent="0" algn="ctr">
              <a:lnSpc>
                <a:spcPct val="130000"/>
              </a:lnSpc>
              <a:buNone/>
              <a:defRPr/>
            </a:pPr>
            <a:endParaRPr lang="ru-RU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0BEADFE-FEEC-F945-BB08-0C4555C3664C}"/>
              </a:ext>
            </a:extLst>
          </p:cNvPr>
          <p:cNvSpPr>
            <a:spLocks/>
          </p:cNvSpPr>
          <p:nvPr/>
        </p:nvSpPr>
        <p:spPr bwMode="auto">
          <a:xfrm>
            <a:off x="218767" y="1472366"/>
            <a:ext cx="11681496" cy="4902305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" sz="2400" dirty="0" err="1"/>
              <a:t>pd.concat</a:t>
            </a:r>
            <a:r>
              <a:rPr lang="en" sz="2400" dirty="0"/>
              <a:t>([</a:t>
            </a:r>
            <a:r>
              <a:rPr lang="en" sz="2400" dirty="0" err="1"/>
              <a:t>df.head</a:t>
            </a:r>
            <a:r>
              <a:rPr lang="en" sz="2400" dirty="0"/>
              <a:t>(2), </a:t>
            </a:r>
            <a:r>
              <a:rPr lang="en" sz="2400" dirty="0" err="1"/>
              <a:t>additional_columns.head</a:t>
            </a:r>
            <a:r>
              <a:rPr lang="en" sz="2400" dirty="0"/>
              <a:t>(2)], </a:t>
            </a:r>
            <a:r>
              <a:rPr lang="en" sz="2400" b="1" dirty="0"/>
              <a:t>axis=1</a:t>
            </a:r>
            <a:r>
              <a:rPr lang="en" sz="2400" dirty="0"/>
              <a:t>)</a:t>
            </a:r>
            <a:endParaRPr lang="ru-RU" sz="24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endParaRPr lang="ru-RU" sz="24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" sz="2400" dirty="0"/>
              <a:t>&gt;&gt;&gt; </a:t>
            </a:r>
            <a:r>
              <a:rPr lang="en" sz="2400" dirty="0" err="1"/>
              <a:t>pd.concat</a:t>
            </a:r>
            <a:r>
              <a:rPr lang="en" sz="2400" dirty="0"/>
              <a:t>(</a:t>
            </a:r>
            <a:br>
              <a:rPr lang="en" sz="2400" dirty="0"/>
            </a:br>
            <a:r>
              <a:rPr lang="en" sz="2400" dirty="0"/>
              <a:t>... [</a:t>
            </a:r>
            <a:br>
              <a:rPr lang="en" sz="2400" dirty="0"/>
            </a:br>
            <a:r>
              <a:rPr lang="en" sz="2400" dirty="0"/>
              <a:t>... </a:t>
            </a:r>
            <a:r>
              <a:rPr lang="en" sz="2400" dirty="0" err="1"/>
              <a:t>tsunami.head</a:t>
            </a:r>
            <a:r>
              <a:rPr lang="en" sz="2400" dirty="0"/>
              <a:t>(2),</a:t>
            </a:r>
            <a:br>
              <a:rPr lang="en" sz="2400" dirty="0"/>
            </a:br>
            <a:r>
              <a:rPr lang="en" sz="2400" dirty="0"/>
              <a:t>... </a:t>
            </a:r>
            <a:r>
              <a:rPr lang="en" sz="2400" dirty="0" err="1"/>
              <a:t>no_tsunami.head</a:t>
            </a:r>
            <a:r>
              <a:rPr lang="en" sz="2400" dirty="0"/>
              <a:t>(2).assign(type='earthquake')</a:t>
            </a:r>
            <a:br>
              <a:rPr lang="en" sz="2400" dirty="0"/>
            </a:br>
            <a:r>
              <a:rPr lang="en" sz="2400" dirty="0"/>
              <a:t>... ], </a:t>
            </a:r>
            <a:br>
              <a:rPr lang="en" sz="2400" dirty="0"/>
            </a:br>
            <a:r>
              <a:rPr lang="en" sz="2400" dirty="0"/>
              <a:t>... </a:t>
            </a:r>
            <a:r>
              <a:rPr lang="en" sz="2400" b="1" dirty="0"/>
              <a:t>join='inner'</a:t>
            </a:r>
            <a:br>
              <a:rPr lang="en" sz="2400" dirty="0"/>
            </a:br>
            <a:r>
              <a:rPr lang="en" sz="2400" dirty="0"/>
              <a:t>... )</a:t>
            </a:r>
            <a:endParaRPr lang="ru-RU" sz="2400" dirty="0"/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endParaRPr lang="ru-RU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6668831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/>
          <p:nvPr/>
        </p:nvSpPr>
        <p:spPr bwMode="auto">
          <a:xfrm>
            <a:off x="3541989" y="3388478"/>
            <a:ext cx="5395146" cy="2322846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075998A-3FCC-EA4B-960F-7DB6E5A5A4D8}"/>
              </a:ext>
            </a:extLst>
          </p:cNvPr>
          <p:cNvSpPr>
            <a:spLocks/>
          </p:cNvSpPr>
          <p:nvPr/>
        </p:nvSpPr>
        <p:spPr bwMode="auto">
          <a:xfrm>
            <a:off x="551384" y="404664"/>
            <a:ext cx="10225136" cy="1008112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  <a:defRPr/>
            </a:pP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Pandas</a:t>
            </a: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.</a:t>
            </a: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 </a:t>
            </a: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Удаление </a:t>
            </a:r>
            <a:endParaRPr lang="en-US" sz="40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 marL="0" indent="0" algn="ctr">
              <a:lnSpc>
                <a:spcPct val="130000"/>
              </a:lnSpc>
              <a:buNone/>
              <a:defRPr/>
            </a:pPr>
            <a:endParaRPr lang="ru-RU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0BEADFE-FEEC-F945-BB08-0C4555C3664C}"/>
              </a:ext>
            </a:extLst>
          </p:cNvPr>
          <p:cNvSpPr>
            <a:spLocks/>
          </p:cNvSpPr>
          <p:nvPr/>
        </p:nvSpPr>
        <p:spPr bwMode="auto">
          <a:xfrm>
            <a:off x="218767" y="1472366"/>
            <a:ext cx="11681496" cy="4902305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" sz="2400" dirty="0" err="1"/>
              <a:t>mag_negative</a:t>
            </a:r>
            <a:r>
              <a:rPr lang="en" sz="2400" dirty="0"/>
              <a:t> = </a:t>
            </a:r>
            <a:r>
              <a:rPr lang="en" sz="2400" dirty="0" err="1"/>
              <a:t>df.pop</a:t>
            </a:r>
            <a:r>
              <a:rPr lang="en" sz="2400" dirty="0"/>
              <a:t>('</a:t>
            </a:r>
            <a:r>
              <a:rPr lang="en" sz="2400" dirty="0" err="1"/>
              <a:t>mag_negative</a:t>
            </a:r>
            <a:r>
              <a:rPr lang="en" sz="2400" dirty="0"/>
              <a:t>')</a:t>
            </a:r>
            <a:br>
              <a:rPr lang="en" sz="2400" dirty="0"/>
            </a:br>
            <a:endParaRPr lang="ru-RU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" sz="2400" dirty="0" err="1"/>
              <a:t>df.drop</a:t>
            </a:r>
            <a:r>
              <a:rPr lang="en" sz="2400" dirty="0"/>
              <a:t>([0, 1]).head(2)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37504022"/>
      </p:ext>
    </p:extLst>
  </p:cSld>
  <p:clrMapOvr>
    <a:masterClrMapping/>
  </p:clrMapOvr>
</p:sld>
</file>

<file path=ppt/theme/theme1.xml><?xml version="1.0" encoding="utf-8"?>
<a:theme xmlns:a="http://schemas.openxmlformats.org/drawingml/2006/main" name="1_СБ">
  <a:themeElements>
    <a:clrScheme name="Другая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EB041"/>
      </a:accent1>
      <a:accent2>
        <a:srgbClr val="ED6325"/>
      </a:accent2>
      <a:accent3>
        <a:srgbClr val="6A5AB8"/>
      </a:accent3>
      <a:accent4>
        <a:srgbClr val="7E7F7E"/>
      </a:accent4>
      <a:accent5>
        <a:srgbClr val="BEBFBE"/>
      </a:accent5>
      <a:accent6>
        <a:srgbClr val="EDAC3D"/>
      </a:accent6>
      <a:hlink>
        <a:srgbClr val="2BA630"/>
      </a:hlink>
      <a:folHlink>
        <a:srgbClr val="919191"/>
      </a:folHlink>
    </a:clrScheme>
    <a:fontScheme name="Другая 4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-СБ-16-9 (2)" id="{1220A763-8272-4E38-86CC-D9240CCE7034}" vid="{9D22794E-62DE-40C1-B547-B2A3D45EAF2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14266</TotalTime>
  <Words>1376</Words>
  <Application>Microsoft Macintosh PowerPoint</Application>
  <PresentationFormat>Широкоэкранный</PresentationFormat>
  <Paragraphs>172</Paragraphs>
  <Slides>24</Slides>
  <Notes>23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4" baseType="lpstr">
      <vt:lpstr>Arial</vt:lpstr>
      <vt:lpstr>Calibri</vt:lpstr>
      <vt:lpstr>Calibri Light</vt:lpstr>
      <vt:lpstr>Droid Serif</vt:lpstr>
      <vt:lpstr>Georgia</vt:lpstr>
      <vt:lpstr>SB Sans Display Semibold</vt:lpstr>
      <vt:lpstr>SB Serif Text Semibold</vt:lpstr>
      <vt:lpstr>SBSansDisplay-Light</vt:lpstr>
      <vt:lpstr>Wingdings</vt:lpstr>
      <vt:lpstr>1_СБ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Future Foresight</dc:title>
  <dc:creator>Microsoft Office User</dc:creator>
  <cp:lastModifiedBy>ALEXEY LEVCHENKO</cp:lastModifiedBy>
  <cp:revision>1163</cp:revision>
  <cp:lastPrinted>2021-03-23T20:46:36Z</cp:lastPrinted>
  <dcterms:created xsi:type="dcterms:W3CDTF">2020-01-19T17:18:57Z</dcterms:created>
  <dcterms:modified xsi:type="dcterms:W3CDTF">2024-09-02T14:40:18Z</dcterms:modified>
</cp:coreProperties>
</file>